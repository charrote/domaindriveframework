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5" r:id="rId22"/>
    <p:sldId id="276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2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3"/>
        <p:guide pos="28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Domain-Specific Language（</a:t>
            </a:r>
            <a:r>
              <a:rPr lang="zh-CN" altLang="en-US"/>
              <a:t>领域特定语言）</a:t>
            </a:r>
            <a:br>
              <a:rPr lang="zh-CN" altLang="en-US"/>
            </a:br>
            <a:r>
              <a:rPr lang="en-US" altLang="zh-CN"/>
              <a:t>* </a:t>
            </a:r>
            <a:r>
              <a:rPr lang="zh-CN" altLang="en-US"/>
              <a:t>参考产品设计</a:t>
            </a:r>
            <a:r>
              <a:rPr lang="zh-CN" altLang="en-US"/>
              <a:t>文档</a:t>
            </a:r>
            <a:endParaRPr lang="zh-CN" altLang="en-US"/>
          </a:p>
          <a:p>
            <a:r>
              <a:rPr lang="zh-CN" altLang="en-US"/>
              <a:t>在 </a:t>
            </a:r>
            <a:r>
              <a:rPr lang="en-US" altLang="zh-CN"/>
              <a:t>DomainDriveFramework </a:t>
            </a:r>
            <a:r>
              <a:rPr lang="zh-CN" altLang="en-US"/>
              <a:t>的语境下，特指用 </a:t>
            </a:r>
            <a:r>
              <a:rPr lang="en-US" altLang="zh-CN"/>
              <a:t>YAML </a:t>
            </a:r>
            <a:r>
              <a:rPr lang="zh-CN" altLang="en-US"/>
              <a:t>格式定义业务模型的描述语言，包含实体、关系、状态机、权限、规则等完整语义。它不是通用的编程语言，而是专门为「离散制造业务建模」这个领域设计的 </a:t>
            </a:r>
            <a:r>
              <a:rPr lang="en-US" altLang="zh-CN"/>
              <a:t>DSL。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Gate1:</a:t>
            </a:r>
            <a:r>
              <a:rPr lang="zh-CN" altLang="en-US"/>
              <a:t>语法检查</a:t>
            </a:r>
            <a:r>
              <a:rPr lang="en-US" altLang="zh-CN"/>
              <a:t> | </a:t>
            </a:r>
            <a:r>
              <a:rPr lang="zh-CN" altLang="en-US"/>
              <a:t>拦截： 生成的代码本身有语法错误或类型不匹配</a:t>
            </a:r>
            <a:endParaRPr lang="zh-CN" altLang="en-US"/>
          </a:p>
          <a:p>
            <a:r>
              <a:rPr lang="en-US" altLang="zh-CN"/>
              <a:t>Gate2:</a:t>
            </a:r>
            <a:r>
              <a:rPr lang="zh-CN" altLang="en-US"/>
              <a:t>引用完整性检查</a:t>
            </a:r>
            <a:r>
              <a:rPr lang="en-US" altLang="zh-CN"/>
              <a:t> | </a:t>
            </a:r>
            <a:r>
              <a:rPr lang="zh-CN" altLang="en-US"/>
              <a:t>拦截： 生成的文件之间互相依赖断裂</a:t>
            </a:r>
            <a:endParaRPr lang="zh-CN" altLang="en-US"/>
          </a:p>
          <a:p>
            <a:r>
              <a:rPr lang="en-US" altLang="zh-CN"/>
              <a:t>Gate3:</a:t>
            </a:r>
            <a:r>
              <a:rPr lang="zh-CN" altLang="en-US"/>
              <a:t>安全扫描</a:t>
            </a:r>
            <a:r>
              <a:rPr lang="en-US" altLang="zh-CN"/>
              <a:t> | </a:t>
            </a:r>
            <a:r>
              <a:rPr lang="zh-CN" altLang="en-US"/>
              <a:t>拦截： 生成的应用有安全漏洞就出不了厂</a:t>
            </a:r>
            <a:endParaRPr lang="zh-CN" altLang="en-US"/>
          </a:p>
          <a:p>
            <a:r>
              <a:rPr lang="en-US" altLang="zh-CN"/>
              <a:t>Gate4:</a:t>
            </a:r>
            <a:r>
              <a:rPr lang="zh-CN" altLang="en-US"/>
              <a:t>编译验证 + 基础测试</a:t>
            </a:r>
            <a:r>
              <a:rPr lang="en-US" altLang="zh-CN"/>
              <a:t> | </a:t>
            </a:r>
            <a:r>
              <a:rPr lang="zh-CN" altLang="en-US"/>
              <a:t>拦截： 生成的应用是残次</a:t>
            </a:r>
            <a:r>
              <a:rPr lang="zh-CN" altLang="en-US"/>
              <a:t>品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NLP -&gt; DSL ： </a:t>
            </a:r>
            <a:r>
              <a:rPr lang="zh-CN" altLang="en-US"/>
              <a:t>用自然语言描述业务需求，</a:t>
            </a:r>
            <a:r>
              <a:rPr lang="en-US" altLang="zh-CN"/>
              <a:t>AI </a:t>
            </a:r>
            <a:r>
              <a:rPr lang="zh-CN" altLang="en-US"/>
              <a:t>自动翻译成平台可执行的 </a:t>
            </a:r>
            <a:r>
              <a:rPr lang="en-US" altLang="zh-CN"/>
              <a:t>DSL（</a:t>
            </a:r>
            <a:r>
              <a:rPr lang="zh-CN" altLang="en-US"/>
              <a:t>领域特定语言）模型，无需手动写 </a:t>
            </a:r>
            <a:r>
              <a:rPr lang="en-US" altLang="zh-CN"/>
              <a:t>YAML</a:t>
            </a:r>
            <a:endParaRPr lang="en-US" altLang="zh-CN"/>
          </a:p>
          <a:p>
            <a:r>
              <a:rPr lang="en-US" altLang="zh-CN">
                <a:sym typeface="+mn-ea"/>
              </a:rPr>
              <a:t>Domain-Specific Language（</a:t>
            </a:r>
            <a:r>
              <a:rPr lang="zh-CN" altLang="en-US">
                <a:sym typeface="+mn-ea"/>
              </a:rPr>
              <a:t>领域特定语言）</a:t>
            </a:r>
            <a:br>
              <a:rPr lang="zh-CN" altLang="en-US">
                <a:sym typeface="+mn-ea"/>
              </a:rPr>
            </a:br>
            <a:r>
              <a:rPr lang="en-US" altLang="zh-CN">
                <a:sym typeface="+mn-ea"/>
              </a:rPr>
              <a:t>* </a:t>
            </a:r>
            <a:r>
              <a:rPr lang="zh-CN" altLang="en-US">
                <a:sym typeface="+mn-ea"/>
              </a:rPr>
              <a:t>参考产品设计文档</a:t>
            </a:r>
            <a:endParaRPr lang="zh-CN" altLang="en-US"/>
          </a:p>
          <a:p>
            <a:r>
              <a:rPr lang="zh-CN" altLang="en-US">
                <a:sym typeface="+mn-ea"/>
              </a:rPr>
              <a:t>在 </a:t>
            </a:r>
            <a:r>
              <a:rPr lang="en-US" altLang="zh-CN">
                <a:sym typeface="+mn-ea"/>
              </a:rPr>
              <a:t>DomainDriveFramework </a:t>
            </a:r>
            <a:r>
              <a:rPr lang="zh-CN" altLang="en-US">
                <a:sym typeface="+mn-ea"/>
              </a:rPr>
              <a:t>的语境下，特指用 </a:t>
            </a:r>
            <a:r>
              <a:rPr lang="en-US" altLang="zh-CN">
                <a:sym typeface="+mn-ea"/>
              </a:rPr>
              <a:t>YAML </a:t>
            </a:r>
            <a:r>
              <a:rPr lang="zh-CN" altLang="en-US">
                <a:sym typeface="+mn-ea"/>
              </a:rPr>
              <a:t>格式定义业务模型的描述语言，包含实体、关系、状态机、权限、规则等完整语义。它不是通用的编程语言，而是专门为「离散制造业务建模」这个领域设计的 </a:t>
            </a:r>
            <a:r>
              <a:rPr lang="en-US" altLang="zh-CN">
                <a:sym typeface="+mn-ea"/>
              </a:rPr>
              <a:t>DSL。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【第21页 - 附录：技术栈】</a:t>
            </a:r>
            <a:endParaRPr lang="en-US"/>
          </a:p>
          <a:p/>
          <a:p>
            <a:r>
              <a:rPr lang="en-US"/>
              <a:t>布局：双栏并列，两列技术栈</a:t>
            </a:r>
            <a:endParaRPr lang="en-US"/>
          </a:p>
          <a:p>
            <a:r>
              <a:rPr lang="en-US"/>
              <a:t>背景：白色 #FFFFFF</a:t>
            </a:r>
            <a:endParaRPr lang="en-US"/>
          </a:p>
          <a:p/>
          <a:p>
            <a:r>
              <a:rPr lang="en-US"/>
              <a:t>标题："SaaS 平台 &amp; 生成应用技术栈" 36pt Georgia Bold #0E1726（x=1.5cm, y=1cm, width=30cm）</a:t>
            </a:r>
            <a:endParaRPr lang="en-US"/>
          </a:p>
          <a:p>
            <a:r>
              <a:rPr lang="en-US"/>
              <a:t>标题下方：3cm 蓝色强调条 #0071E3（x=1.5cm, y=3cm）</a:t>
            </a:r>
            <a:endParaRPr lang="en-US"/>
          </a:p>
          <a:p/>
          <a:p>
            <a:r>
              <a:rPr lang="en-US"/>
              <a:t>左栏：SaaS 平台（x=1.5cm, y=4.5cm, width=14.5cm）</a:t>
            </a:r>
            <a:endParaRPr lang="en-US"/>
          </a:p>
          <a:p>
            <a:r>
              <a:rPr lang="en-US"/>
              <a:t>- 标题 "SaaS 平台" 18pt Georgia Bold #0E1726</a:t>
            </a:r>
            <a:endParaRPr lang="en-US"/>
          </a:p>
          <a:p>
            <a:r>
              <a:rPr lang="en-US"/>
              <a:t>- 9 项技术栈，竖排，每项一行</a:t>
            </a:r>
            <a:endParaRPr lang="en-US"/>
          </a:p>
          <a:p>
            <a:r>
              <a:rPr lang="en-US"/>
              <a:t>- 每项 = 技术类别 13pt Calibri Bold #475569 + 具体技术 13pt Calibri #94A3B8</a:t>
            </a:r>
            <a:endParaRPr lang="en-US"/>
          </a:p>
          <a:p>
            <a:r>
              <a:rPr lang="en-US"/>
              <a:t>- 类别和具体之间用分隔线 | 或冒号</a:t>
            </a:r>
            <a:endParaRPr lang="en-US"/>
          </a:p>
          <a:p>
            <a:r>
              <a:rPr lang="en-US"/>
              <a:t>- 行间距 0.5cm</a:t>
            </a:r>
            <a:endParaRPr lang="en-US"/>
          </a:p>
          <a:p/>
          <a:p>
            <a:r>
              <a:rPr lang="en-US"/>
              <a:t>后端框架：FastAPI 0.110+</a:t>
            </a:r>
            <a:endParaRPr lang="en-US"/>
          </a:p>
          <a:p>
            <a:r>
              <a:rPr lang="en-US"/>
              <a:t>ORM：SQLAlchemy 2.0+</a:t>
            </a:r>
            <a:endParaRPr lang="en-US"/>
          </a:p>
          <a:p>
            <a:r>
              <a:rPr lang="en-US"/>
              <a:t>Web UI：Vue 3 + TypeScript</a:t>
            </a:r>
            <a:endParaRPr lang="en-US"/>
          </a:p>
          <a:p>
            <a:r>
              <a:rPr lang="en-US"/>
              <a:t>UI 组件：Element Plus 2.x</a:t>
            </a:r>
            <a:endParaRPr lang="en-US"/>
          </a:p>
          <a:p>
            <a:r>
              <a:rPr lang="en-US"/>
              <a:t>数据库：PostgreSQL 16</a:t>
            </a:r>
            <a:endParaRPr lang="en-US"/>
          </a:p>
          <a:p>
            <a:r>
              <a:rPr lang="en-US"/>
              <a:t>缓存：Redis 7.x</a:t>
            </a:r>
            <a:endParaRPr lang="en-US"/>
          </a:p>
          <a:p>
            <a:r>
              <a:rPr lang="en-US"/>
              <a:t>对象存储：MinIO / S3</a:t>
            </a:r>
            <a:endParaRPr lang="en-US"/>
          </a:p>
          <a:p>
            <a:r>
              <a:rPr lang="en-US"/>
              <a:t>容器化：Docker + Docker Compose</a:t>
            </a:r>
            <a:endParaRPr lang="en-US"/>
          </a:p>
          <a:p>
            <a:r>
              <a:rPr lang="en-US"/>
              <a:t>Agent 协议：MCP (Model Context Protocol)</a:t>
            </a:r>
            <a:endParaRPr lang="en-US"/>
          </a:p>
          <a:p/>
          <a:p>
            <a:r>
              <a:rPr lang="en-US"/>
              <a:t>右栏：生成应用（x=17cm, y=4.5cm, width=14.5cm）</a:t>
            </a:r>
            <a:endParaRPr lang="en-US"/>
          </a:p>
          <a:p>
            <a:r>
              <a:rPr lang="en-US"/>
              <a:t>- 标题 "生成应用" 18pt Georgia Bold #0E1726</a:t>
            </a:r>
            <a:endParaRPr lang="en-US"/>
          </a:p>
          <a:p>
            <a:r>
              <a:rPr lang="en-US"/>
              <a:t>- 8 项技术栈</a:t>
            </a:r>
            <a:endParaRPr lang="en-US"/>
          </a:p>
          <a:p/>
          <a:p>
            <a:r>
              <a:rPr lang="en-US"/>
              <a:t>Web 框架：FastAPI 0.110+</a:t>
            </a:r>
            <a:endParaRPr lang="en-US"/>
          </a:p>
          <a:p>
            <a:r>
              <a:rPr lang="en-US"/>
              <a:t>ORM：SQLAlchemy 2.0+</a:t>
            </a:r>
            <a:endParaRPr lang="en-US"/>
          </a:p>
          <a:p>
            <a:r>
              <a:rPr lang="en-US"/>
              <a:t>数据验证：Pydantic 2.x</a:t>
            </a:r>
            <a:endParaRPr lang="en-US"/>
          </a:p>
          <a:p>
            <a:r>
              <a:rPr lang="en-US"/>
              <a:t>数据库迁移：Alembic</a:t>
            </a:r>
            <a:endParaRPr lang="en-US"/>
          </a:p>
          <a:p>
            <a:r>
              <a:rPr lang="en-US"/>
              <a:t>前端框架：Vue 3 + TypeScript</a:t>
            </a:r>
            <a:endParaRPr lang="en-US"/>
          </a:p>
          <a:p>
            <a:r>
              <a:rPr lang="en-US"/>
              <a:t>UI 组件：Element Plus 2.x</a:t>
            </a:r>
            <a:endParaRPr lang="en-US"/>
          </a:p>
          <a:p>
            <a:r>
              <a:rPr lang="en-US"/>
              <a:t>移动端：uni-app (Vue 3)</a:t>
            </a:r>
            <a:endParaRPr lang="en-US"/>
          </a:p>
          <a:p>
            <a:r>
              <a:rPr lang="en-US"/>
              <a:t>移动端 UI：uView Plus</a:t>
            </a:r>
            <a:endParaRPr lang="en-US"/>
          </a:p>
          <a:p>
            <a:r>
              <a:rPr lang="en-US"/>
              <a:t>数据库：PostgreSQL + TimescaleDB</a:t>
            </a:r>
            <a:endParaRPr lang="en-US"/>
          </a:p>
          <a:p/>
          <a:p>
            <a:r>
              <a:rPr lang="en-US"/>
              <a:t>每项前用小色块 ■ #0071E3 作为标记</a:t>
            </a:r>
            <a:endParaRPr lang="en-US"/>
          </a:p>
          <a:p/>
          <a:p>
            <a:r>
              <a:rPr lang="en-US"/>
              <a:t>留白：左右栏间距 1cm，页面底部 1.27cm</a:t>
            </a:r>
            <a:endParaRPr lang="en-US"/>
          </a:p>
          <a:p/>
          <a:p>
            <a:r>
              <a:rPr lang="en-US"/>
              <a:t>注：此页为附录，字体可略小（标题 13pt，技术名 11pt），用于参考而非演讲主体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领域驱动 · AI 生成 · 中小企业数字化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DomainDriveFramework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面向离散制造的 AI 原生应用生成平台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389120"/>
            <a:ext cx="2103120" cy="508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模型设计中心(SaaS)  |  代码生成工厂  |  项目交付应用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离散制造数字化：万亿级市场的结构性缺口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中小企业面临「买不起、建不起、改不起」的三重困境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4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中国制造业 500 人以下企业信息化率不足 15%，不是因为不想，而是因为：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337560" cy="41148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39215"/>
            <a:ext cx="2971800" cy="43053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 sz="18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2800"/>
              <a:t>买不起</a:t>
            </a:r>
            <a:endParaRPr sz="2800"/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97180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6027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传统 MES 套件实施成本</a:t>
            </a:r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1600"/>
              <a:t>500万-2000万</a:t>
            </a:r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914400" y="296037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年维护费 15%-20%</a:t>
            </a:r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914400" y="312039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914400" y="389763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中小企业年度 IT 预算平均</a:t>
            </a:r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1800"/>
              <a:t>不足 200 万</a:t>
            </a:r>
            <a:endParaRPr sz="1800"/>
          </a:p>
        </p:txBody>
      </p:sp>
      <p:sp>
        <p:nvSpPr>
          <p:cNvPr id="12" name="Rounded Rectangle 11"/>
          <p:cNvSpPr/>
          <p:nvPr/>
        </p:nvSpPr>
        <p:spPr>
          <a:xfrm>
            <a:off x="4343400" y="1188720"/>
            <a:ext cx="3337560" cy="41148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39215"/>
            <a:ext cx="2971800" cy="43053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 sz="18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2800"/>
              <a:t>建不起</a:t>
            </a:r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4526280" y="1783080"/>
            <a:ext cx="297180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6027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自建全栈系统需要</a:t>
            </a:r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4526280" y="256032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1600"/>
              <a:t>5-15 人开发团队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4526280" y="296037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1600"/>
              <a:t>6-12 个月开发周期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4526280" y="312039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4526280" y="389763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行业集成商平均项目</a:t>
            </a:r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4526280" y="425196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1800"/>
              <a:t>交付周期 9 个月</a:t>
            </a:r>
            <a:endParaRPr sz="1800"/>
          </a:p>
        </p:txBody>
      </p:sp>
      <p:sp>
        <p:nvSpPr>
          <p:cNvPr id="21" name="Rounded Rectangle 20"/>
          <p:cNvSpPr/>
          <p:nvPr/>
        </p:nvSpPr>
        <p:spPr>
          <a:xfrm>
            <a:off x="7955280" y="1188720"/>
            <a:ext cx="3337560" cy="41148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339215"/>
            <a:ext cx="2971800" cy="43053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 sz="18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2800"/>
              <a:t>改不起</a:t>
            </a:r>
            <a:endParaRPr sz="2800"/>
          </a:p>
        </p:txBody>
      </p:sp>
      <p:sp>
        <p:nvSpPr>
          <p:cNvPr id="23" name="Rectangle 22"/>
          <p:cNvSpPr/>
          <p:nvPr/>
        </p:nvSpPr>
        <p:spPr>
          <a:xfrm>
            <a:off x="8138160" y="1783080"/>
            <a:ext cx="297180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16027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业务变化后系统</a:t>
            </a:r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8138160" y="264033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1600"/>
              <a:t>修改周期 3-6 个月</a:t>
            </a:r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8138160" y="296037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1600"/>
              <a:t>改造成本接近重建</a:t>
            </a:r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8138160" y="312039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8138160" y="3897630"/>
            <a:ext cx="2971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70% 定制化系统</a:t>
            </a:r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8138160" y="425196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DC3C3C"/>
                </a:solidFill>
                <a:latin typeface="微软雅黑"/>
                <a:ea typeface="微软雅黑"/>
              </a:defRPr>
            </a:pPr>
            <a:r>
              <a:rPr sz="1800"/>
              <a:t>上线后 2 年内成为</a:t>
            </a:r>
            <a:r>
              <a:rPr lang="zh-CN" sz="1800"/>
              <a:t>孤儿</a:t>
            </a:r>
            <a:r>
              <a:rPr sz="1800"/>
              <a:t>系统</a:t>
            </a:r>
            <a:endParaRPr sz="1800"/>
          </a:p>
        </p:txBody>
      </p:sp>
      <p:sp>
        <p:nvSpPr>
          <p:cNvPr id="30" name="Rounded Rectangle 29"/>
          <p:cNvSpPr/>
          <p:nvPr/>
        </p:nvSpPr>
        <p:spPr>
          <a:xfrm>
            <a:off x="731520" y="5577840"/>
            <a:ext cx="10728655" cy="5486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6928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中国 40 万家离散制造中小企业，亟需「买得起、上线快、改得了」的数字化方案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DomainDriveFramework：</a:t>
            </a:r>
          </a:p>
          <a:p>
            <a:pPr algn="ctr">
              <a:defRPr sz="3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模型即资产，交付即分叉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将业务系统的构建拆分为三个解耦环节，小团队维护模型即可驱动全栈应用生成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30 分钟从模型修改到可部署应用     |     1-3 人维护行业模型     |     交付成本降低 80%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5247" y="914400"/>
            <a:ext cx="9601200" cy="16459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69567" y="1005840"/>
            <a:ext cx="905256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第一层：业务模型设计中心 SaaS</a:t>
            </a:r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1569567" y="1554480"/>
            <a:ext cx="90525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通用模型库(base/)  |  行业 Profile(industries/)  |  项目实例(projects/)</a:t>
            </a:r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1569567" y="1920240"/>
            <a:ext cx="90525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业务专家 Web UI + AI Agent API </a:t>
            </a:r>
            <a:r>
              <a:rPr lang="en-US" sz="1600"/>
              <a:t>+ </a:t>
            </a:r>
            <a:r>
              <a:rPr lang="zh-CN" altLang="en-US" sz="1600"/>
              <a:t>原生应用级</a:t>
            </a:r>
            <a:r>
              <a:rPr lang="en-US" sz="1600"/>
              <a:t>MCP</a:t>
            </a:r>
            <a:r>
              <a:rPr sz="1600"/>
              <a:t> |  核心盈利资产：模型分享市场 + 订阅计费</a:t>
            </a:r>
            <a:endParaRPr sz="1600"/>
          </a:p>
        </p:txBody>
      </p:sp>
      <p:sp>
        <p:nvSpPr>
          <p:cNvPr id="8" name="Rectangle 7"/>
          <p:cNvSpPr/>
          <p:nvPr/>
        </p:nvSpPr>
        <p:spPr>
          <a:xfrm>
            <a:off x="5638647" y="2560320"/>
            <a:ext cx="914400" cy="3657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5603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247" y="2560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选择 Profile + 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5247" y="2926080"/>
            <a:ext cx="9601200" cy="16459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9567" y="3017520"/>
            <a:ext cx="905256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第二层：代码生成工厂</a:t>
            </a:r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1569567" y="3566160"/>
            <a:ext cx="90525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DSL 解析 → 模板渲染 → 质量门禁(4道) → 打包输出</a:t>
            </a:r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1569567" y="3931920"/>
            <a:ext cx="90525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输出：FastAPI </a:t>
            </a:r>
            <a:r>
              <a:rPr lang="en-US" sz="1600"/>
              <a:t>（</a:t>
            </a:r>
            <a:r>
              <a:rPr lang="zh-CN" altLang="en-US" sz="1600"/>
              <a:t>后端</a:t>
            </a:r>
            <a:r>
              <a:rPr lang="en-US" sz="1600"/>
              <a:t>）</a:t>
            </a:r>
            <a:r>
              <a:rPr sz="1600"/>
              <a:t>+ Vue 3</a:t>
            </a:r>
            <a:r>
              <a:rPr lang="en-US" sz="1600"/>
              <a:t>（</a:t>
            </a:r>
            <a:r>
              <a:rPr lang="zh-CN" altLang="en-US" sz="1600"/>
              <a:t>前端</a:t>
            </a:r>
            <a:r>
              <a:rPr lang="en-US" altLang="zh-CN" sz="1600"/>
              <a:t>）</a:t>
            </a:r>
            <a:r>
              <a:rPr sz="1600"/>
              <a:t> + uni-app</a:t>
            </a:r>
            <a:r>
              <a:rPr lang="en-US" sz="1600"/>
              <a:t>（</a:t>
            </a:r>
            <a:r>
              <a:rPr lang="zh-CN" altLang="en-US" sz="1600"/>
              <a:t>移动端</a:t>
            </a:r>
            <a:r>
              <a:rPr lang="en-US" sz="1600"/>
              <a:t>）+ PgSql（</a:t>
            </a:r>
            <a:r>
              <a:rPr lang="zh-CN" altLang="en-US" sz="1600"/>
              <a:t>数据库</a:t>
            </a:r>
            <a:r>
              <a:rPr lang="en-US" altLang="zh-CN" sz="1600"/>
              <a:t>）</a:t>
            </a:r>
            <a:r>
              <a:rPr sz="1600"/>
              <a:t> 全量可部署包</a:t>
            </a:r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5638647" y="4572000"/>
            <a:ext cx="914400" cy="3657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8647" y="4572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4572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下载部署包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5247" y="4937760"/>
            <a:ext cx="9601200" cy="16459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69567" y="5029200"/>
            <a:ext cx="905256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第三层：项目交付应用</a:t>
            </a:r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1569567" y="5577840"/>
            <a:ext cx="90525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独立</a:t>
            </a:r>
            <a:r>
              <a:rPr lang="zh-CN" sz="1600"/>
              <a:t>代码</a:t>
            </a:r>
            <a:r>
              <a:rPr sz="1600"/>
              <a:t>仓库，交付即分叉  |  ├─ generated/ (冻结)  |  └─ custom/ (</a:t>
            </a:r>
            <a:r>
              <a:rPr lang="zh-CN" sz="1600"/>
              <a:t>交付即熔断</a:t>
            </a:r>
            <a:r>
              <a:rPr lang="en-US" altLang="zh-CN" sz="1600"/>
              <a:t>、</a:t>
            </a:r>
            <a:r>
              <a:rPr sz="1600"/>
              <a:t>二开不回灌)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1569567" y="5943600"/>
            <a:ext cx="90525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Docker 单机/多机私有化部署</a:t>
            </a:r>
            <a:r>
              <a:rPr lang="en-US" sz="1600"/>
              <a:t>（</a:t>
            </a:r>
            <a:r>
              <a:rPr lang="zh-CN" altLang="en-US" sz="1600"/>
              <a:t>也</a:t>
            </a:r>
            <a:r>
              <a:rPr lang="zh-CN" altLang="en-US" sz="1600"/>
              <a:t>可云端支持</a:t>
            </a:r>
            <a:r>
              <a:rPr lang="en-US" altLang="zh-CN" sz="1600"/>
              <a:t>）</a:t>
            </a:r>
            <a:endParaRPr lang="en-US" altLang="zh-CN" sz="1600"/>
          </a:p>
        </p:txBody>
      </p:sp>
      <p:sp>
        <p:nvSpPr>
          <p:cNvPr id="22" name="文本框 21"/>
          <p:cNvSpPr txBox="1"/>
          <p:nvPr/>
        </p:nvSpPr>
        <p:spPr>
          <a:xfrm>
            <a:off x="122555" y="1137920"/>
            <a:ext cx="1020445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>
              <a:lnSpc>
                <a:spcPct val="150000"/>
              </a:lnSpc>
            </a:pPr>
            <a:r>
              <a:rPr lang="zh-CN" altLang="en-US" sz="2400" i="1">
                <a:solidFill>
                  <a:schemeClr val="accent4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charset="0"/>
                <a:ea typeface="微软雅黑" charset="0"/>
              </a:rPr>
              <a:t>重点</a:t>
            </a:r>
            <a:endParaRPr lang="zh-CN" altLang="en-US" sz="2400" i="1">
              <a:solidFill>
                <a:schemeClr val="accent4"/>
              </a:solidFill>
              <a:effectLst>
                <a:reflection blurRad="6350" stA="55000" endA="300" endPos="45500" dir="5400000" sy="-100000" algn="bl" rotWithShape="0"/>
              </a:effectLst>
              <a:latin typeface="微软雅黑" charset="0"/>
              <a:ea typeface="微软雅黑" charset="0"/>
            </a:endParaRPr>
          </a:p>
          <a:p>
            <a:pPr algn="r">
              <a:lnSpc>
                <a:spcPct val="150000"/>
              </a:lnSpc>
            </a:pPr>
            <a:r>
              <a:rPr lang="zh-CN" altLang="en-US" sz="2400" i="1">
                <a:solidFill>
                  <a:schemeClr val="accent4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charset="0"/>
                <a:ea typeface="微软雅黑" charset="0"/>
              </a:rPr>
              <a:t>运营</a:t>
            </a:r>
            <a:endParaRPr lang="zh-CN" altLang="en-US" sz="2400" i="1">
              <a:solidFill>
                <a:schemeClr val="accent4"/>
              </a:solidFill>
              <a:effectLst>
                <a:reflection blurRad="6350" stA="55000" endA="300" endPos="45500" dir="5400000" sy="-100000" algn="bl" rotWithShape="0"/>
              </a:effectLst>
              <a:latin typeface="微软雅黑" charset="0"/>
              <a:ea typeface="微软雅黑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2555" y="3151505"/>
            <a:ext cx="1020445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2400" i="1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charset="0"/>
                <a:ea typeface="微软雅黑" charset="0"/>
              </a:rPr>
              <a:t>赋能</a:t>
            </a:r>
            <a:endParaRPr lang="zh-CN" altLang="en-US" sz="2400" i="1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charset="0"/>
              <a:ea typeface="微软雅黑" charset="0"/>
            </a:endParaRPr>
          </a:p>
          <a:p>
            <a:pPr algn="r">
              <a:lnSpc>
                <a:spcPct val="150000"/>
              </a:lnSpc>
            </a:pPr>
            <a:r>
              <a:rPr lang="zh-CN" altLang="en-US" sz="2400" i="1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charset="0"/>
                <a:ea typeface="微软雅黑" charset="0"/>
              </a:rPr>
              <a:t>支持</a:t>
            </a:r>
            <a:endParaRPr lang="zh-CN" altLang="en-US" sz="2400" i="1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charset="0"/>
              <a:ea typeface="微软雅黑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2555" y="5165090"/>
            <a:ext cx="1020445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2400" i="1">
                <a:solidFill>
                  <a:schemeClr val="tx1">
                    <a:lumMod val="50000"/>
                    <a:lumOff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微软雅黑" charset="0"/>
                <a:ea typeface="微软雅黑" charset="0"/>
              </a:rPr>
              <a:t>全量</a:t>
            </a:r>
            <a:endParaRPr lang="zh-CN" altLang="en-US" sz="2400" i="1">
              <a:solidFill>
                <a:schemeClr val="tx1">
                  <a:lumMod val="50000"/>
                  <a:lumOff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微软雅黑" charset="0"/>
              <a:ea typeface="微软雅黑" charset="0"/>
            </a:endParaRPr>
          </a:p>
          <a:p>
            <a:pPr algn="r">
              <a:lnSpc>
                <a:spcPct val="150000"/>
              </a:lnSpc>
            </a:pPr>
            <a:r>
              <a:rPr lang="zh-CN" altLang="en-US" sz="2400" i="1">
                <a:solidFill>
                  <a:schemeClr val="tx1">
                    <a:lumMod val="50000"/>
                    <a:lumOff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微软雅黑" charset="0"/>
                <a:ea typeface="微软雅黑" charset="0"/>
              </a:rPr>
              <a:t>开放</a:t>
            </a:r>
            <a:endParaRPr lang="zh-CN" altLang="en-US" sz="2400" i="1">
              <a:solidFill>
                <a:schemeClr val="tx1">
                  <a:lumMod val="50000"/>
                  <a:lumOff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三个核心原则，重构业务系统交付效率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15544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20624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▎规则 1：模型即资产</a:t>
            </a:r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20624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0233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业务 DSL 是核心知识产权</a:t>
            </a:r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1005840" y="2434590"/>
            <a:ext cx="40233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可积累 · 可迭代 · 可分享 · 可销售</a:t>
            </a:r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4572000" cy="15544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20624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▎规则 2：交付即分叉</a:t>
            </a:r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914400" y="3520440"/>
            <a:ext cx="420624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40"/>
            <a:ext cx="40233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项目生成后与模型中心断开关联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1005840" y="4126230"/>
            <a:ext cx="40233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二开不回灌，不提供模型升级</a:t>
            </a:r>
            <a:endParaRPr sz="1600"/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4572000" cy="15544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420624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▎规则 3：全量生成</a:t>
            </a:r>
            <a:endParaRPr sz="2000"/>
          </a:p>
        </p:txBody>
      </p:sp>
      <p:sp>
        <p:nvSpPr>
          <p:cNvPr id="16" name="Rectangle 15"/>
          <p:cNvSpPr/>
          <p:nvPr/>
        </p:nvSpPr>
        <p:spPr>
          <a:xfrm>
            <a:off x="914400" y="5212080"/>
            <a:ext cx="420624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40233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每次基于完整 Profile 全量生成可部署包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1005840" y="5817870"/>
            <a:ext cx="40233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不做增量 / 差异生成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5577840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371600"/>
            <a:ext cx="4967935" cy="5029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554480"/>
            <a:ext cx="460217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lang="zh-CN" sz="2000"/>
              <a:t>交付后</a:t>
            </a:r>
            <a:r>
              <a:rPr sz="2000"/>
              <a:t>不做</a:t>
            </a:r>
            <a:r>
              <a:rPr lang="zh-CN" sz="2000"/>
              <a:t>业务</a:t>
            </a:r>
            <a:r>
              <a:rPr sz="2000"/>
              <a:t>模型升级</a:t>
            </a:r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6217920" y="2011680"/>
            <a:ext cx="4602175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3490" y="2399030"/>
            <a:ext cx="441929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chemeClr val="tx1"/>
                </a:solidFill>
                <a:highlight>
                  <a:srgbClr val="FFFF00"/>
                </a:highlight>
              </a:rPr>
              <a:t>交付后二开包含 dirty 现场定制</a:t>
            </a:r>
            <a:endParaRPr sz="2000" b="1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33490" y="2871470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600"/>
              <a:t>→ 升级的冲突解决方案占框架 40% 复杂度</a:t>
            </a:r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6333490" y="3263900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600"/>
              <a:t>→ 撤销这部分复杂度，投入 SaaS 平台化</a:t>
            </a:r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6333490" y="3656330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600"/>
              <a:t>→ 「卖铲子」商业模式</a:t>
            </a:r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6333490" y="3759200"/>
            <a:ext cx="4419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333490" y="4410710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600"/>
              <a:t>如需新版本 → 按新项目计费</a:t>
            </a:r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6333490" y="4879340"/>
            <a:ext cx="4419295" cy="110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模型中心提供 migrate-check 工具（分析，不自修复）</a:t>
            </a:r>
            <a:endParaRPr sz="1600"/>
          </a:p>
          <a:p>
            <a:pPr algn="l">
              <a:lnSpc>
                <a:spcPct val="150000"/>
              </a:lnSpc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lang="zh-CN" altLang="en-US" sz="1600"/>
              <a:t>如必须二开</a:t>
            </a:r>
            <a:r>
              <a:rPr lang="en-US" altLang="zh-CN" sz="1600"/>
              <a:t>，</a:t>
            </a:r>
            <a:r>
              <a:rPr lang="zh-CN" altLang="en-US" sz="1600">
                <a:sym typeface="+mn-ea"/>
              </a:rPr>
              <a:t>单独</a:t>
            </a:r>
            <a:r>
              <a:rPr lang="zh-CN" altLang="en-US" sz="1600"/>
              <a:t>分项目分支</a:t>
            </a:r>
            <a:r>
              <a:rPr lang="en-US" altLang="zh-CN" sz="1600"/>
              <a:t>，</a:t>
            </a:r>
            <a:r>
              <a:rPr lang="zh-CN" altLang="en-US" sz="1600"/>
              <a:t>主线</a:t>
            </a:r>
            <a:r>
              <a:rPr lang="zh-CN" altLang="en-US" sz="1600"/>
              <a:t>不维护</a:t>
            </a:r>
            <a:endParaRPr lang="zh-CN" alt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领域 DSL + 代码生成引擎：AI 原生的结构化壁垒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DSL 内置实体 / 关系 / 状态机语义，AI Agent 可直接读写操作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9" name="组合 28"/>
          <p:cNvGrpSpPr/>
          <p:nvPr/>
        </p:nvGrpSpPr>
        <p:grpSpPr>
          <a:xfrm>
            <a:off x="716915" y="1313815"/>
            <a:ext cx="10789285" cy="4822825"/>
            <a:chOff x="1129" y="720"/>
            <a:chExt cx="16991" cy="7595"/>
          </a:xfrm>
        </p:grpSpPr>
        <p:sp>
          <p:nvSpPr>
            <p:cNvPr id="2" name="Rounded Rectangle 1"/>
            <p:cNvSpPr/>
            <p:nvPr/>
          </p:nvSpPr>
          <p:spPr>
            <a:xfrm>
              <a:off x="1152" y="720"/>
              <a:ext cx="5400" cy="748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134" y="720"/>
              <a:ext cx="5467" cy="864"/>
            </a:xfrm>
            <a:prstGeom prst="round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351" y="911"/>
              <a:ext cx="5030" cy="4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rPr sz="2000"/>
                <a:t>壁垒 1：领域 DSL 体系</a:t>
              </a:r>
              <a:endParaRPr sz="200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440" y="2081"/>
              <a:ext cx="4824" cy="152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50000"/>
                </a:lnSpc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三层模型（base/industry/project），YAML 驱动</a:t>
              </a:r>
              <a:endParaRPr sz="14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40" y="4075"/>
              <a:ext cx="4824" cy="10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50000"/>
                </a:lnSpc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实体 / 关系 / 状态机 / 权限 / 规则完整语义</a:t>
              </a:r>
              <a:endParaRPr sz="14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40" y="5560"/>
              <a:ext cx="4824" cy="33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继承策略：additive / standalone</a:t>
              </a:r>
              <a:endParaRPr sz="14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40" y="6367"/>
              <a:ext cx="4824" cy="33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跨实体业务编排（事件驱动）</a:t>
              </a:r>
              <a:endParaRPr sz="14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29" y="7303"/>
              <a:ext cx="5448" cy="1008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82" y="7299"/>
              <a:ext cx="5141" cy="101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  <a:defRPr sz="1000" b="0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rPr sz="1800" b="1">
                  <a:solidFill>
                    <a:srgbClr val="FFFF00"/>
                  </a:solidFill>
                </a:rPr>
                <a:t>领域语义积累优势</a:t>
              </a:r>
              <a:endParaRPr sz="1800" b="1">
                <a:solidFill>
                  <a:srgbClr val="FFFF00"/>
                </a:solidFill>
              </a:endParaRPr>
            </a:p>
            <a:p>
              <a:pPr algn="ctr">
                <a:lnSpc>
                  <a:spcPct val="150000"/>
                </a:lnSpc>
                <a:defRPr sz="1000" b="0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（通用低代码平台无领域语义）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912" y="720"/>
              <a:ext cx="5400" cy="748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94" y="720"/>
              <a:ext cx="5467" cy="864"/>
            </a:xfrm>
            <a:prstGeom prst="round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11" y="911"/>
              <a:ext cx="5030" cy="4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rPr sz="2000"/>
                <a:t>壁垒 2：全量生成引擎</a:t>
              </a:r>
              <a:endParaRPr sz="20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00" y="2081"/>
              <a:ext cx="4824" cy="10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50000"/>
                </a:lnSpc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无状态全量生成策略，每次重渲染，不做增量</a:t>
              </a:r>
              <a:endParaRPr sz="14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00" y="3596"/>
              <a:ext cx="4824" cy="10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50000"/>
                </a:lnSpc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4 道质量门禁：语法 → 引用 → 安全 → 编译</a:t>
              </a:r>
              <a:endParaRPr sz="14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00" y="5111"/>
              <a:ext cx="4824" cy="33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100 实体全量渲染 &lt; 10 秒</a:t>
              </a:r>
              <a:endParaRPr sz="14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00" y="5948"/>
              <a:ext cx="4824" cy="33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首次可运行率 ≥ 80%</a:t>
              </a:r>
              <a:endParaRPr sz="14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889" y="7303"/>
              <a:ext cx="5448" cy="1008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42" y="7299"/>
              <a:ext cx="5141" cy="101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  <a:defRPr sz="1000" b="0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rPr sz="1800" b="1">
                  <a:solidFill>
                    <a:srgbClr val="FFFF00"/>
                  </a:solidFill>
                </a:rPr>
                <a:t>复杂度优势</a:t>
              </a:r>
              <a:endParaRPr sz="1800" b="1">
                <a:solidFill>
                  <a:srgbClr val="FFFF00"/>
                </a:solidFill>
              </a:endParaRPr>
            </a:p>
            <a:p>
              <a:pPr algn="ctr">
                <a:lnSpc>
                  <a:spcPct val="150000"/>
                </a:lnSpc>
                <a:defRPr sz="1000" b="0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（传统方案 diff merge 占 40% 复杂度）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672" y="720"/>
              <a:ext cx="5400" cy="748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2654" y="720"/>
              <a:ext cx="5467" cy="864"/>
            </a:xfrm>
            <a:prstGeom prst="round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871" y="911"/>
              <a:ext cx="5030" cy="4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rPr sz="2000"/>
                <a:t>壁垒 3：AI 原生架构</a:t>
              </a:r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960" y="2081"/>
              <a:ext cx="4824" cy="10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50000"/>
                </a:lnSpc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MCP 协议 Agent API</a:t>
              </a:r>
              <a:r>
                <a:rPr lang="en-US" sz="1400"/>
                <a:t>（</a:t>
              </a:r>
              <a:r>
                <a:rPr lang="zh-CN" altLang="en-US" sz="1400"/>
                <a:t>应用出生就具备</a:t>
              </a:r>
              <a:r>
                <a:rPr lang="en-US" altLang="zh-CN" sz="1400"/>
                <a:t>）</a:t>
              </a:r>
              <a:endParaRPr lang="en-US" altLang="zh-CN" sz="1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960" y="3323"/>
              <a:ext cx="4824" cy="10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50000"/>
                </a:lnSpc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Claude Code、Cursor</a:t>
              </a:r>
              <a:r>
                <a:rPr lang="en-US" sz="1400"/>
                <a:t> </a:t>
              </a:r>
              <a:r>
                <a:rPr lang="zh-CN" altLang="en-US" sz="1400"/>
                <a:t>等</a:t>
              </a:r>
              <a:r>
                <a:rPr lang="en-US" altLang="zh-CN" sz="1400"/>
                <a:t>Agent</a:t>
              </a:r>
              <a:r>
                <a:rPr sz="1400"/>
                <a:t> 原生支持</a:t>
              </a:r>
              <a:endParaRPr sz="14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960" y="4565"/>
              <a:ext cx="4824" cy="10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50000"/>
                </a:lnSpc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NLP → DSL 操作，自然语言描述直接生成</a:t>
              </a:r>
              <a:r>
                <a:rPr lang="zh-CN" sz="1400"/>
                <a:t>业务</a:t>
              </a:r>
              <a:r>
                <a:rPr sz="1400"/>
                <a:t>模型</a:t>
              </a:r>
              <a:endParaRPr sz="1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2960" y="5807"/>
              <a:ext cx="4824" cy="10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50000"/>
                </a:lnSpc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• </a:t>
              </a:r>
              <a:r>
                <a:rPr lang="zh-CN" sz="1400"/>
                <a:t>收入引擎</a:t>
              </a:r>
              <a:r>
                <a:rPr lang="en-US" altLang="zh-CN" sz="1400"/>
                <a:t>：</a:t>
              </a:r>
              <a:r>
                <a:rPr lang="zh-CN" sz="1400"/>
                <a:t>免费版</a:t>
              </a:r>
              <a:r>
                <a:rPr lang="en-US" altLang="zh-CN" sz="1400"/>
                <a:t>\</a:t>
              </a:r>
              <a:r>
                <a:rPr sz="1400"/>
                <a:t>标准版</a:t>
              </a:r>
              <a:r>
                <a:rPr lang="en-US" sz="1400"/>
                <a:t>\</a:t>
              </a:r>
              <a:r>
                <a:rPr sz="1400"/>
                <a:t>企业版 </a:t>
              </a:r>
              <a:r>
                <a:rPr lang="zh-CN" sz="1400"/>
                <a:t>差异化</a:t>
              </a:r>
              <a:r>
                <a:rPr lang="en-US" altLang="zh-CN" sz="1400"/>
                <a:t> AI </a:t>
              </a:r>
              <a:r>
                <a:rPr lang="zh-CN" altLang="en-US" sz="1400"/>
                <a:t>能力以及计价</a:t>
              </a:r>
              <a:r>
                <a:rPr lang="zh-CN" altLang="en-US" sz="1400"/>
                <a:t>方式</a:t>
              </a:r>
              <a:endParaRPr lang="zh-CN" altLang="en-US" sz="14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649" y="7303"/>
              <a:ext cx="5448" cy="1008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802" y="7299"/>
              <a:ext cx="5141" cy="101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  <a:defRPr sz="1000" b="0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rPr sz="1800" b="1">
                  <a:solidFill>
                    <a:srgbClr val="FFFF00"/>
                  </a:solidFill>
                </a:rPr>
                <a:t>生态优势</a:t>
              </a:r>
              <a:endParaRPr sz="1800" b="1">
                <a:solidFill>
                  <a:srgbClr val="FFFF00"/>
                </a:solidFill>
              </a:endParaRPr>
            </a:p>
            <a:p>
              <a:pPr algn="ctr">
                <a:lnSpc>
                  <a:spcPct val="150000"/>
                </a:lnSpc>
                <a:defRPr sz="1000" b="0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（Agent 即用户，MCP 协议享受生态红利）</a:t>
              </a:r>
            </a:p>
          </p:txBody>
        </p:sp>
      </p:grpSp>
      <p:sp>
        <p:nvSpPr>
          <p:cNvPr id="30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2"/>
          <p:cNvSpPr txBox="1"/>
          <p:nvPr/>
        </p:nvSpPr>
        <p:spPr>
          <a:xfrm>
            <a:off x="731520" y="211455"/>
            <a:ext cx="10728655" cy="40005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rPr>
                <a:sym typeface="+mn-ea"/>
              </a:rPr>
              <a:t>AI 原生的结构化壁垒</a:t>
            </a:r>
            <a:endParaRPr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四层收入结构：SaaS 订阅 + 项目交付 + 增值服务 + 模型市场分成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943600" cy="10972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[第 1 层]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34440"/>
            <a:ext cx="484632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800"/>
              <a:t>SaaS 订阅（经常性收入）</a:t>
            </a:r>
            <a:endParaRPr sz="1800"/>
          </a:p>
        </p:txBody>
      </p:sp>
      <p:sp>
        <p:nvSpPr>
          <p:cNvPr id="7" name="TextBox 6"/>
          <p:cNvSpPr txBox="1"/>
          <p:nvPr/>
        </p:nvSpPr>
        <p:spPr>
          <a:xfrm>
            <a:off x="1645920" y="1551623"/>
            <a:ext cx="4846320" cy="645795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400"/>
              <a:t>标准版 ¥xxx/月 → 企业版 ¥xxxx/月</a:t>
            </a:r>
            <a:br>
              <a:rPr sz="1400"/>
            </a:br>
            <a:r>
              <a:rPr sz="1400"/>
              <a:t>核心引擎：AI 自然语言建模（差异定价）</a:t>
            </a:r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943600" cy="10972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[第 2 层]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484632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800"/>
              <a:t>项目交付（按项目收入）</a:t>
            </a:r>
            <a:endParaRPr sz="1800"/>
          </a:p>
        </p:txBody>
      </p:sp>
      <p:sp>
        <p:nvSpPr>
          <p:cNvPr id="11" name="TextBox 10"/>
          <p:cNvSpPr txBox="1"/>
          <p:nvPr/>
        </p:nvSpPr>
        <p:spPr>
          <a:xfrm>
            <a:off x="1645920" y="2740343"/>
            <a:ext cx="4846320" cy="645795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400"/>
              <a:t>生成交付 ¥xx,xxx-xxx,xxx/次</a:t>
            </a:r>
            <a:br>
              <a:rPr sz="1400"/>
            </a:br>
            <a:r>
              <a:rPr sz="1400"/>
              <a:t>私有化部署包 ¥xxxx/次</a:t>
            </a:r>
            <a:endParaRPr sz="1400"/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943600" cy="1439545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[第 3 层]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11880"/>
            <a:ext cx="484632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800"/>
              <a:t>增值服务（高利润率）</a:t>
            </a:r>
            <a:endParaRPr sz="1800"/>
          </a:p>
        </p:txBody>
      </p:sp>
      <p:sp>
        <p:nvSpPr>
          <p:cNvPr id="15" name="TextBox 14"/>
          <p:cNvSpPr txBox="1"/>
          <p:nvPr/>
        </p:nvSpPr>
        <p:spPr>
          <a:xfrm>
            <a:off x="1645920" y="3936365"/>
            <a:ext cx="4846320" cy="96901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400"/>
              <a:t>精益咨询 ¥xx,xxx-xxx,xxx/期</a:t>
            </a:r>
            <a:br>
              <a:rPr sz="1400"/>
            </a:br>
            <a:r>
              <a:rPr sz="1400"/>
              <a:t>领域建模支撑 ¥x,xxx/天</a:t>
            </a:r>
            <a:br>
              <a:rPr sz="1400"/>
            </a:br>
            <a:r>
              <a:rPr sz="1400"/>
              <a:t>二开/定制开发 按工单计费</a:t>
            </a:r>
            <a:endParaRPr sz="1400"/>
          </a:p>
        </p:txBody>
      </p:sp>
      <p:sp>
        <p:nvSpPr>
          <p:cNvPr id="16" name="Rounded Rectangle 15"/>
          <p:cNvSpPr/>
          <p:nvPr/>
        </p:nvSpPr>
        <p:spPr>
          <a:xfrm>
            <a:off x="731520" y="5104765"/>
            <a:ext cx="5943600" cy="10972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96205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[第 4 层]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50485"/>
            <a:ext cx="484632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800"/>
              <a:t>模型市场分成（平台抽成）</a:t>
            </a:r>
            <a:endParaRPr sz="1800"/>
          </a:p>
        </p:txBody>
      </p:sp>
      <p:sp>
        <p:nvSpPr>
          <p:cNvPr id="19" name="TextBox 18"/>
          <p:cNvSpPr txBox="1"/>
          <p:nvPr/>
        </p:nvSpPr>
        <p:spPr>
          <a:xfrm>
            <a:off x="1645920" y="5461635"/>
            <a:ext cx="4846320" cy="645795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400"/>
              <a:t>普通模型 0% → 精选模型 </a:t>
            </a:r>
            <a:r>
              <a:rPr lang="en-US" sz="1400"/>
              <a:t>5</a:t>
            </a:r>
            <a:r>
              <a:rPr sz="1400"/>
              <a:t>0%</a:t>
            </a:r>
            <a:r>
              <a:rPr lang="en-US" sz="1400"/>
              <a:t>（</a:t>
            </a:r>
            <a:r>
              <a:rPr lang="zh-CN" altLang="en-US" sz="1400"/>
              <a:t>共创模式</a:t>
            </a:r>
            <a:r>
              <a:rPr lang="en-US" altLang="zh-CN" sz="1400"/>
              <a:t>）</a:t>
            </a:r>
            <a:br>
              <a:rPr sz="1400"/>
            </a:br>
            <a:r>
              <a:rPr sz="1400"/>
              <a:t>社区网络效应，规模越大分成越高</a:t>
            </a:r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7040880" y="1671320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600"/>
              <a:t>企业</a:t>
            </a:r>
            <a:r>
              <a:rPr lang="zh-CN" sz="1600"/>
              <a:t>“</a:t>
            </a:r>
            <a:r>
              <a:rPr sz="1600"/>
              <a:t>卖铲子</a:t>
            </a:r>
            <a:r>
              <a:rPr lang="zh-CN" sz="1600"/>
              <a:t>”</a:t>
            </a:r>
            <a:r>
              <a:rPr sz="1600"/>
              <a:t>模式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7040880" y="2148205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├── 轻资产：小团队 1-3 人维护模型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7040880" y="2548890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├── 高毛利：SaaS 订阅边际成本趋零</a:t>
            </a:r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7040880" y="2949575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├── 网络效应：模型市场越多人用越值钱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7040880" y="3350260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└── 双轮驱动：订阅(现金牛) + 项目(大单)</a:t>
            </a:r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7040880" y="3416300"/>
            <a:ext cx="4419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7040880" y="4013835"/>
            <a:ext cx="4419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600"/>
              <a:t>核心差异：</a:t>
            </a:r>
            <a:r>
              <a:rPr lang="zh-CN" sz="1600"/>
              <a:t>避免</a:t>
            </a:r>
            <a:r>
              <a:rPr sz="1600"/>
              <a:t>传统重交付</a:t>
            </a:r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7040880" y="4526915"/>
            <a:ext cx="48463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模型订阅 + 按项目生成 = 每单</a:t>
            </a:r>
            <a:r>
              <a:rPr sz="1600">
                <a:sym typeface="+mn-ea"/>
              </a:rPr>
              <a:t> </a:t>
            </a:r>
            <a:r>
              <a:rPr sz="1600">
                <a:sym typeface="+mn-ea"/>
              </a:rPr>
              <a:t>最短</a:t>
            </a:r>
            <a:r>
              <a:rPr sz="1600">
                <a:sym typeface="+mn-ea"/>
              </a:rPr>
              <a:t> </a:t>
            </a:r>
            <a:r>
              <a:rPr sz="1600">
                <a:sym typeface="+mn-ea"/>
              </a:rPr>
              <a:t>1</a:t>
            </a:r>
            <a:r>
              <a:rPr sz="1600">
                <a:sym typeface="+mn-ea"/>
              </a:rPr>
              <a:t> 周</a:t>
            </a:r>
            <a:r>
              <a:rPr sz="1600">
                <a:sym typeface="+mn-ea"/>
              </a:rPr>
              <a:t>内</a:t>
            </a:r>
            <a:r>
              <a:rPr sz="1600">
                <a:sym typeface="+mn-ea"/>
              </a:rPr>
              <a:t>交付</a:t>
            </a:r>
            <a:r>
              <a:rPr sz="1600">
                <a:sym typeface="+mn-ea"/>
              </a:rPr>
              <a:t> </a:t>
            </a:r>
            <a:r>
              <a:rPr sz="1600">
                <a:sym typeface="+mn-ea"/>
              </a:rPr>
              <a:t>最长</a:t>
            </a:r>
            <a:r>
              <a:rPr sz="1600">
                <a:sym typeface="+mn-ea"/>
              </a:rPr>
              <a:t> 4 </a:t>
            </a:r>
            <a:r>
              <a:rPr sz="1600">
                <a:sym typeface="+mn-ea"/>
              </a:rPr>
              <a:t>周交付</a:t>
            </a:r>
            <a:r>
              <a:rPr sz="1600">
                <a:sym typeface="+mn-ea"/>
              </a:rPr>
              <a:t>（</a:t>
            </a:r>
            <a:r>
              <a:rPr sz="1600">
                <a:sym typeface="+mn-ea"/>
              </a:rPr>
              <a:t>项目</a:t>
            </a:r>
            <a:r>
              <a:rPr sz="1600">
                <a:sym typeface="+mn-ea"/>
              </a:rPr>
              <a:t>）</a:t>
            </a:r>
            <a:endParaRPr sz="16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三层定价：免费获客 → 标准盈利 → 企业锁客 + 增值服务叠加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468880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对比项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188720"/>
            <a:ext cx="2468880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234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免费层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88720"/>
            <a:ext cx="2468880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34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标准版 ¥xxx/月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2468880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34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企业版 ¥xxxx/月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916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项目数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6916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737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1 project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6916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737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5 projects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916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不限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1488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194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每日生成次数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1488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2929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lang="en-US"/>
              <a:t>3</a:t>
            </a:r>
            <a:r>
              <a:t> gen/</a:t>
            </a:r>
            <a:r>
              <a:rPr lang="en-US"/>
              <a:t>5</a:t>
            </a:r>
            <a:r>
              <a:rPr lang="zh-CN" altLang="en-US"/>
              <a:t>小时</a:t>
            </a:r>
            <a:endParaRPr lang="zh-CN" altLang="en-US"/>
          </a:p>
        </p:txBody>
      </p:sp>
      <p:sp>
        <p:nvSpPr>
          <p:cNvPr id="24" name="Rectangle 23"/>
          <p:cNvSpPr/>
          <p:nvPr/>
        </p:nvSpPr>
        <p:spPr>
          <a:xfrm>
            <a:off x="5669280" y="21488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2929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10 gen/</a:t>
            </a:r>
            <a:r>
              <a:rPr lang="en-US"/>
              <a:t> 3</a:t>
            </a:r>
            <a:r>
              <a:rPr lang="zh-CN" altLang="en-US"/>
              <a:t>小时</a:t>
            </a:r>
            <a:endParaRPr lang="zh-CN" altLang="en-US"/>
          </a:p>
        </p:txBody>
      </p:sp>
      <p:sp>
        <p:nvSpPr>
          <p:cNvPr id="26" name="Rectangle 25"/>
          <p:cNvSpPr/>
          <p:nvPr/>
        </p:nvSpPr>
        <p:spPr>
          <a:xfrm>
            <a:off x="8138160" y="21488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194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不限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6060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27501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模型</a:t>
            </a:r>
            <a:r>
              <a:rPr lang="zh-CN"/>
              <a:t>建模</a:t>
            </a:r>
            <a:r>
              <a:t>上限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6060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2651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10 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6060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651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50 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6060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651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不限 + 版本管理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0632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108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AI 自然语言建模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0632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32073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lang="en-US"/>
              <a:t>3</a:t>
            </a:r>
            <a:r>
              <a:rPr lang="zh-CN" altLang="en-US"/>
              <a:t>次</a:t>
            </a:r>
            <a:r>
              <a:rPr lang="en-US" altLang="zh-CN"/>
              <a:t>/</a:t>
            </a:r>
            <a:r>
              <a:rPr lang="zh-CN" altLang="en-US"/>
              <a:t>天</a:t>
            </a:r>
            <a:endParaRPr lang="zh-CN" altLang="en-US"/>
          </a:p>
        </p:txBody>
      </p:sp>
      <p:sp>
        <p:nvSpPr>
          <p:cNvPr id="40" name="Rectangle 39"/>
          <p:cNvSpPr/>
          <p:nvPr/>
        </p:nvSpPr>
        <p:spPr>
          <a:xfrm>
            <a:off x="5669280" y="30632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32073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lang="en-US"/>
              <a:t>1</a:t>
            </a:r>
            <a:r>
              <a:t>0次/</a:t>
            </a:r>
            <a:r>
              <a:rPr lang="zh-CN"/>
              <a:t>天</a:t>
            </a:r>
            <a:endParaRPr lang="zh-CN"/>
          </a:p>
        </p:txBody>
      </p:sp>
      <p:sp>
        <p:nvSpPr>
          <p:cNvPr id="42" name="Rectangle 41"/>
          <p:cNvSpPr/>
          <p:nvPr/>
        </p:nvSpPr>
        <p:spPr>
          <a:xfrm>
            <a:off x="8138160" y="30632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108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2,000次/月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35204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566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MCP Agent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35204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3566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35204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3566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共享队列 &lt; 2s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35204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3566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独立队列 &lt; 500ms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39776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41217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部署</a:t>
            </a:r>
            <a:r>
              <a:rPr lang="zh-CN"/>
              <a:t>形式</a:t>
            </a:r>
            <a:endParaRPr lang="zh-CN"/>
          </a:p>
        </p:txBody>
      </p:sp>
      <p:sp>
        <p:nvSpPr>
          <p:cNvPr id="54" name="Rectangle 53"/>
          <p:cNvSpPr/>
          <p:nvPr/>
        </p:nvSpPr>
        <p:spPr>
          <a:xfrm>
            <a:off x="3200400" y="39776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0" y="41217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lang="zh-CN"/>
              <a:t>云端</a:t>
            </a:r>
            <a:r>
              <a:rPr lang="en-US" altLang="zh-CN"/>
              <a:t>、</a:t>
            </a:r>
            <a:r>
              <a:rPr lang="zh-CN" altLang="en-US"/>
              <a:t>私有化</a:t>
            </a:r>
            <a:endParaRPr lang="zh-CN" altLang="en-US"/>
          </a:p>
        </p:txBody>
      </p:sp>
      <p:sp>
        <p:nvSpPr>
          <p:cNvPr id="56" name="Rectangle 55"/>
          <p:cNvSpPr/>
          <p:nvPr/>
        </p:nvSpPr>
        <p:spPr>
          <a:xfrm>
            <a:off x="5669280" y="39776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1217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lang="zh-CN" altLang="en-US"/>
              <a:t>云端</a:t>
            </a:r>
            <a:r>
              <a:rPr lang="en-US" altLang="zh-CN"/>
              <a:t>、</a:t>
            </a:r>
            <a:r>
              <a:rPr lang="zh-CN" altLang="en-US"/>
              <a:t>私有化</a:t>
            </a:r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8138160" y="39776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41217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lang="zh-CN"/>
              <a:t>云端</a:t>
            </a:r>
            <a:r>
              <a:rPr lang="en-US" altLang="zh-CN"/>
              <a:t>、</a:t>
            </a:r>
            <a:r>
              <a:rPr lang="zh-CN"/>
              <a:t>私有化</a:t>
            </a:r>
            <a:endParaRPr lang="zh-CN"/>
          </a:p>
        </p:txBody>
      </p:sp>
      <p:sp>
        <p:nvSpPr>
          <p:cNvPr id="60" name="Rectangle 59"/>
          <p:cNvSpPr/>
          <p:nvPr/>
        </p:nvSpPr>
        <p:spPr>
          <a:xfrm>
            <a:off x="731520" y="44348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480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SSO/审计日志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44348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0" y="4480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不支持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0" y="44348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0" y="4480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不支持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38160" y="4434840"/>
            <a:ext cx="246888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4480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支持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48920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4937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收入模式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48920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0" y="4937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0（获客入口）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48920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60720" y="4937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主要收入来源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38160" y="48920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5036185"/>
            <a:ext cx="228600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稳定订阅收入</a:t>
            </a:r>
            <a:r>
              <a:rPr lang="en-US"/>
              <a:t>/</a:t>
            </a:r>
            <a:r>
              <a:rPr lang="zh-CN" altLang="en-US"/>
              <a:t>支持</a:t>
            </a:r>
            <a:r>
              <a:rPr lang="zh-CN" altLang="en-US"/>
              <a:t>项目制</a:t>
            </a:r>
            <a:endParaRPr lang="zh-CN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731520" y="5623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增值服务叠加包（非订阅包含）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" y="5943600"/>
            <a:ext cx="10728655" cy="457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精益数字化咨询 ¥xx,xxx-xxx,xxx/期     |     项目实施 ¥xxx/人月     |     领域建模 ¥x,xxx/天     |     全周期 SLA ¥xx,xxx-xxx,xxx/年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lang="zh-CN"/>
              <a:t>业务</a:t>
            </a:r>
            <a:r>
              <a:t>模型</a:t>
            </a:r>
            <a:r>
              <a:rPr lang="en-US"/>
              <a:t>（</a:t>
            </a:r>
            <a:r>
              <a:rPr lang="zh-CN" altLang="en-US"/>
              <a:t>库</a:t>
            </a:r>
            <a:r>
              <a:rPr lang="en-US" altLang="zh-CN"/>
              <a:t>）</a:t>
            </a:r>
            <a:r>
              <a:t>市场：社区驱动的网络效应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业务专家贡献模型 → 更多用户使用 → 更多人贡献 → 平台价值指数增长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548640"/>
            <a:ext cx="5029200" cy="914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6400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业务专家贡献行业模型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CCD5EE"/>
                </a:solidFill>
                <a:latin typeface="微软雅黑"/>
                <a:ea typeface="微软雅黑"/>
              </a:defRPr>
            </a:pPr>
            <a:r>
              <a:t>（公开分享 / 精选认定）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1463040"/>
            <a:ext cx="25400" cy="1371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600200"/>
            <a:ext cx="5029200" cy="914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模型进入市场，被浏览继承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CCD5EE"/>
                </a:solidFill>
                <a:latin typeface="微软雅黑"/>
                <a:ea typeface="微软雅黑"/>
              </a:defRPr>
            </a:pPr>
            <a:r>
              <a:t>继承次数 = 模型质量评分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2514600"/>
            <a:ext cx="25400" cy="1371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651760"/>
            <a:ext cx="5029200" cy="914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432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用户（集成商 / AI Agent）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546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CCD5EE"/>
                </a:solidFill>
                <a:latin typeface="微软雅黑"/>
                <a:ea typeface="微软雅黑"/>
              </a:defRPr>
            </a:pPr>
            <a:r>
              <a:t>基于模型快速交付项目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3566160"/>
            <a:ext cx="25400" cy="1371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3703320"/>
            <a:ext cx="5029200" cy="914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79476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用户反馈 / 贡献 → 模型优化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06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CCD5EE"/>
                </a:solidFill>
                <a:latin typeface="微软雅黑"/>
                <a:ea typeface="微软雅黑"/>
              </a:defRPr>
            </a:pPr>
            <a:r>
              <a:t>高质量模型升级为精选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48640"/>
            <a:ext cx="38100" cy="40690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48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44675"/>
            <a:ext cx="4137660" cy="14770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rPr sz="3200"/>
              <a:t>循环往复</a:t>
            </a:r>
            <a:br>
              <a:rPr sz="3200"/>
            </a:br>
            <a:r>
              <a:rPr sz="3200"/>
              <a:t>飞轮效应自我强化</a:t>
            </a:r>
            <a:endParaRPr sz="3200"/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10728655" cy="731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2885"/>
            <a:ext cx="10180015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目标：上线 6 个月内 ≥ 50 个社区模型    |    精选标准：≥ 3 项目验证 + 文档完整 + 持续维护    |    收益分成：普通模型 0% → 精选模型 </a:t>
            </a:r>
            <a:r>
              <a:rPr lang="en-US"/>
              <a:t>5</a:t>
            </a:r>
            <a:r>
              <a:t>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三阶段冷启动：从第一个客户到网络效应飞轮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731520" y="1377315"/>
            <a:ext cx="10728655" cy="4754880"/>
            <a:chOff x="1152" y="1872"/>
            <a:chExt cx="16896" cy="7488"/>
          </a:xfrm>
        </p:grpSpPr>
        <p:sp>
          <p:nvSpPr>
            <p:cNvPr id="4" name="Rounded Rectangle 3"/>
            <p:cNvSpPr/>
            <p:nvPr/>
          </p:nvSpPr>
          <p:spPr>
            <a:xfrm>
              <a:off x="1152" y="1872"/>
              <a:ext cx="5184" cy="604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516" y="1872"/>
              <a:ext cx="4331" cy="115"/>
            </a:xfrm>
            <a:prstGeom prst="rect">
              <a:avLst/>
            </a:prstGeom>
            <a:solidFill>
              <a:srgbClr val="DC3C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68" y="2160"/>
              <a:ext cx="4752" cy="77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1500" b="1">
                  <a:solidFill>
                    <a:srgbClr val="DC3C3C"/>
                  </a:solidFill>
                  <a:latin typeface="微软雅黑"/>
                  <a:ea typeface="微软雅黑"/>
                </a:defRPr>
              </a:pPr>
              <a:r>
                <a:rPr sz="3200"/>
                <a:t>种子期</a:t>
              </a:r>
              <a:endParaRPr sz="32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68" y="3025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6C7B94"/>
                  </a:solidFill>
                  <a:latin typeface="微软雅黑"/>
                  <a:ea typeface="微软雅黑"/>
                </a:defRPr>
              </a:pPr>
              <a:r>
                <a:t>0 → 20 用户 · 2-3 个月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368" y="3457"/>
              <a:ext cx="4752" cy="40"/>
            </a:xfrm>
            <a:prstGeom prst="rect">
              <a:avLst/>
            </a:prstGeom>
            <a:solidFill>
              <a:srgbClr val="0071E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40" y="3312"/>
              <a:ext cx="4608" cy="4211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marL="171450" indent="-171450" algn="l">
                <a:lnSpc>
                  <a:spcPct val="200000"/>
                </a:lnSpc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/>
                <a:t>自营真实项目交付验证标杆</a:t>
              </a:r>
              <a:endParaRPr sz="1600"/>
            </a:p>
            <a:p>
              <a:pPr marL="171450" indent="-171450" algn="l">
                <a:lnSpc>
                  <a:spcPct val="200000"/>
                </a:lnSpc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AI 自动生成方案内容/SEO</a:t>
              </a:r>
              <a:endParaRPr sz="1600">
                <a:sym typeface="+mn-ea"/>
              </a:endParaRPr>
            </a:p>
            <a:p>
              <a:pPr marL="171450" indent="-171450" algn="l">
                <a:lnSpc>
                  <a:spcPct val="200000"/>
                </a:lnSpc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AI Demo 机器人 7×24 演示</a:t>
              </a:r>
              <a:endParaRPr sz="1600">
                <a:sym typeface="+mn-ea"/>
              </a:endParaRPr>
            </a:p>
            <a:p>
              <a:pPr marL="171450" indent="-171450" algn="l">
                <a:lnSpc>
                  <a:spcPct val="200000"/>
                </a:lnSpc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多平台撒网(公众号/知乎/社区)</a:t>
              </a:r>
              <a:endParaRPr sz="1600">
                <a:sym typeface="+mn-ea"/>
              </a:endParaRPr>
            </a:p>
            <a:p>
              <a:pPr marL="171450" indent="-171450" algn="l">
                <a:lnSpc>
                  <a:spcPct val="200000"/>
                </a:lnSpc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免费层超低门槛批量注册</a:t>
              </a:r>
              <a:endParaRPr sz="1600">
                <a:sym typeface="+mn-ea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768" y="1872"/>
              <a:ext cx="5184" cy="604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132" y="1872"/>
              <a:ext cx="4331" cy="115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84" y="2160"/>
              <a:ext cx="4752" cy="77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1500" b="1">
                  <a:solidFill>
                    <a:srgbClr val="1E2761"/>
                  </a:solidFill>
                  <a:latin typeface="微软雅黑"/>
                  <a:ea typeface="微软雅黑"/>
                </a:defRPr>
              </a:pPr>
              <a:r>
                <a:rPr sz="3200"/>
                <a:t>冷启动</a:t>
              </a:r>
              <a:endParaRPr sz="32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984" y="3025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6C7B94"/>
                  </a:solidFill>
                  <a:latin typeface="微软雅黑"/>
                  <a:ea typeface="微软雅黑"/>
                </a:defRPr>
              </a:pPr>
              <a:r>
                <a:t>20 → 100 用户 · 3-6 个月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984" y="3457"/>
              <a:ext cx="4752" cy="40"/>
            </a:xfrm>
            <a:prstGeom prst="rect">
              <a:avLst/>
            </a:prstGeom>
            <a:solidFill>
              <a:srgbClr val="0071E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56" y="3312"/>
              <a:ext cx="5029" cy="4211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marL="171450" lvl="0" indent="-171450" algn="l">
                <a:lnSpc>
                  <a:spcPct val="200000"/>
                </a:lnSpc>
                <a:buClrTx/>
                <a:buSzTx/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集成商赋能计划：5-10 家伙伴</a:t>
              </a:r>
              <a:endParaRPr sz="1600">
                <a:sym typeface="+mn-ea"/>
              </a:endParaRPr>
            </a:p>
            <a:p>
              <a:pPr marL="171450" lvl="0" indent="-171450" algn="l">
                <a:lnSpc>
                  <a:spcPct val="200000"/>
                </a:lnSpc>
                <a:buClrTx/>
                <a:buSzTx/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MCP 协议开放吸引 Agent 开发者</a:t>
              </a:r>
              <a:endParaRPr sz="1600">
                <a:sym typeface="+mn-ea"/>
              </a:endParaRPr>
            </a:p>
            <a:p>
              <a:pPr marL="171450" lvl="0" indent="-171450" algn="l">
                <a:lnSpc>
                  <a:spcPct val="200000"/>
                </a:lnSpc>
                <a:buClrTx/>
                <a:buSzTx/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内容营销：技术博客+Demo视频</a:t>
              </a:r>
              <a:endParaRPr sz="1600">
                <a:sym typeface="+mn-ea"/>
              </a:endParaRPr>
            </a:p>
            <a:p>
              <a:pPr marL="171450" lvl="0" indent="-171450" algn="l">
                <a:lnSpc>
                  <a:spcPct val="200000"/>
                </a:lnSpc>
                <a:buClrTx/>
                <a:buSzTx/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标杆案例传播+行业媒体曝光</a:t>
              </a:r>
              <a:endParaRPr sz="1600">
                <a:sym typeface="+mn-ea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384" y="1872"/>
              <a:ext cx="5184" cy="604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748" y="1872"/>
              <a:ext cx="4331" cy="115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600" y="2160"/>
              <a:ext cx="4752" cy="77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1500" b="1">
                  <a:solidFill>
                    <a:srgbClr val="22C55E"/>
                  </a:solidFill>
                  <a:latin typeface="微软雅黑"/>
                  <a:ea typeface="微软雅黑"/>
                </a:defRPr>
              </a:pPr>
              <a:r>
                <a:rPr sz="3200"/>
                <a:t>增长飞轮</a:t>
              </a:r>
              <a:endParaRPr sz="32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2600" y="3025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6C7B94"/>
                  </a:solidFill>
                  <a:latin typeface="微软雅黑"/>
                  <a:ea typeface="微软雅黑"/>
                </a:defRPr>
              </a:pPr>
              <a:r>
                <a:t>100 → 500+ 用户 · 6-12 个月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600" y="3457"/>
              <a:ext cx="4752" cy="40"/>
            </a:xfrm>
            <a:prstGeom prst="rect">
              <a:avLst/>
            </a:prstGeom>
            <a:solidFill>
              <a:srgbClr val="0071E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672" y="3312"/>
              <a:ext cx="4608" cy="4211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marL="171450" lvl="0" indent="-171450" algn="l">
                <a:lnSpc>
                  <a:spcPct val="200000"/>
                </a:lnSpc>
                <a:buClrTx/>
                <a:buSzTx/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模型市场自我循环带动增长</a:t>
              </a:r>
              <a:endParaRPr sz="1600">
                <a:sym typeface="+mn-ea"/>
              </a:endParaRPr>
            </a:p>
            <a:p>
              <a:pPr marL="171450" lvl="0" indent="-171450" algn="l">
                <a:lnSpc>
                  <a:spcPct val="200000"/>
                </a:lnSpc>
                <a:buClrTx/>
                <a:buSzTx/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行业 Profile 覆盖更多细分</a:t>
              </a:r>
              <a:endParaRPr sz="1600">
                <a:sym typeface="+mn-ea"/>
              </a:endParaRPr>
            </a:p>
            <a:p>
              <a:pPr marL="171450" lvl="0" indent="-171450" algn="l">
                <a:lnSpc>
                  <a:spcPct val="200000"/>
                </a:lnSpc>
                <a:buClrTx/>
                <a:buSzTx/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精选模型吸引更多行业用户</a:t>
              </a:r>
              <a:endParaRPr sz="1600">
                <a:sym typeface="+mn-ea"/>
              </a:endParaRPr>
            </a:p>
            <a:p>
              <a:pPr marL="171450" lvl="0" indent="-171450" algn="l">
                <a:lnSpc>
                  <a:spcPct val="200000"/>
                </a:lnSpc>
                <a:buClrTx/>
                <a:buSzTx/>
                <a:buFont typeface="Wingdings" panose="05000000000000000000" charset="0"/>
                <a:buChar char=""/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600">
                  <a:sym typeface="+mn-ea"/>
                </a:rPr>
                <a:t>口碑传播+集成商转介绍</a:t>
              </a:r>
              <a:endParaRPr sz="1600">
                <a:sym typeface="+mn-ea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152" y="8352"/>
              <a:ext cx="16896" cy="1008"/>
            </a:xfrm>
            <a:prstGeom prst="round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584" y="8496"/>
              <a:ext cx="16032" cy="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标杆交付 → 案例验证 → 集成商渠道拓展     |     Agent 社区 → 模型生态 → 自增长飞轮     |     首个付费客户 → 50 家 → 100 家 → 500+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1455"/>
            <a:ext cx="10728655" cy="40005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竞品对标：差异化定位，不与传统重型套件正面竞争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103120" cy="54864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143000"/>
            <a:ext cx="19568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097280"/>
            <a:ext cx="2103120" cy="54864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07792" y="1143000"/>
            <a:ext cx="19568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传统 MES</a:t>
            </a:r>
            <a:br/>
            <a:r>
              <a:t>(西门子/鼎捷)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097280"/>
            <a:ext cx="2103120" cy="54864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143000"/>
            <a:ext cx="19568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通用低代码</a:t>
            </a:r>
            <a:br/>
            <a:r>
              <a:t>(明道云/简道云)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097280"/>
            <a:ext cx="2103120" cy="54864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1143000"/>
            <a:ext cx="19568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自建方案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097280"/>
            <a:ext cx="2103120" cy="54864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1143000"/>
            <a:ext cx="19568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DDF（我们）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645920"/>
            <a:ext cx="21031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1664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定位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6459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664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行业重型套件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6459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664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通用表单+流程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6459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1664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全手写开发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645920"/>
            <a:ext cx="2103120" cy="4572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1664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领域模型驱动</a:t>
            </a:r>
            <a:br/>
            <a:r>
              <a:t>SaaS+生成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103120"/>
            <a:ext cx="21031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2121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领域语义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1031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2" y="2121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预置模型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21031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2121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1031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2121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从零开发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103120"/>
            <a:ext cx="2103120" cy="4572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7152" y="2121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DSL 自带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2560320"/>
            <a:ext cx="21031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2578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AI 融合度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5603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07792" y="2578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★☆ 无 AI 接口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5603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10912" y="2578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★★★ 有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25603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2578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★★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2560320"/>
            <a:ext cx="2103120" cy="4572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2578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★★★★★ Agent API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3017520"/>
            <a:ext cx="21031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30358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实施成本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0175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07792" y="30358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500万-2000万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30175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10912" y="30358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中（按用户收费）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30175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14032" y="30358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中-高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3017520"/>
            <a:ext cx="2103120" cy="4572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30358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低（模型订阅）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474720"/>
            <a:ext cx="21031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" y="34930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交付周期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34747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07792" y="34930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6-12 个月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34747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10912" y="34930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3-6 个月配置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40880" y="34747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14032" y="34930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6-12 个月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3474720"/>
            <a:ext cx="2103120" cy="4572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17152" y="34930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2-4 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3931920"/>
            <a:ext cx="21031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" y="3950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定制灵活度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39319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07792" y="3950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★★ 受限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37760" y="39319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10912" y="3950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★★★ 表单级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40880" y="39319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14032" y="3950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★★★★★ 完全可控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0" y="3931920"/>
            <a:ext cx="2103120" cy="4572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17152" y="39502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★★★★ DSL+二开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4389120"/>
            <a:ext cx="21031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2" y="4407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私有化部署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34640" y="43891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07792" y="4407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重型私有化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37760" y="43891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10912" y="4407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部分支持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40880" y="4389120"/>
            <a:ext cx="210312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14032" y="4407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完全可控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44000" y="4389120"/>
            <a:ext cx="2103120" cy="4572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17152" y="44074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SaaS+私有双模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1520" y="4846320"/>
            <a:ext cx="21031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4672" y="4864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团队规模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834640" y="48463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07792" y="4864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实施 10-20 人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37760" y="48463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10912" y="4864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配置 3-8 人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40880" y="48463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14032" y="4864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全栈 5-15 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44000" y="4846320"/>
            <a:ext cx="2103120" cy="4572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17152" y="4864608"/>
            <a:ext cx="19568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模型 1-3 人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5577840"/>
            <a:ext cx="10728655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8680" y="5577840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● 传统 MES：F-重成本 I-中小企业无法承受 A-轻量订阅+按项目生成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5897880"/>
            <a:ext cx="10728655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8680" y="5897880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● 通用低代码：F-无领域语义 I-搭建业务「形似神不似」A-DSL 自带领域语义开箱即用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68680" y="6217920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● 自建方案：F-维护成本指数上升 I-人员变动后成为遗留系统 A-模型驱动+Agent 辅助维护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1455"/>
            <a:ext cx="10728655" cy="40005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四大客户群体，覆盖从中小企业到</a:t>
            </a:r>
            <a:r>
              <a:rPr lang="zh-CN"/>
              <a:t>赋能</a:t>
            </a:r>
            <a:r>
              <a:t>集成商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120640" cy="21031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中小企业 (50-500人)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475488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737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从手工/纸质管理升级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3741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买不起重型套件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5745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找不到全栈开发团队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7749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→ 月度订阅 + 1个模块开始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120640" cy="21031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大企部门 (100-1000人)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475488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1737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总部不提供统一系统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3741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需要部门级方案，快速上线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5745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后续需对接集团系统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7749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→ 私有化部署 + API 集成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5120640" cy="21031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行业集成商 (1-5人团队)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023360"/>
            <a:ext cx="475488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快速交付定制业务系统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26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传统开发效率低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项目交付周期长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→ CLI工具 + 模型市场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566160"/>
            <a:ext cx="5120640" cy="21031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6576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AI Agent 开发者 (个人/小团队)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023360"/>
            <a:ext cx="475488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需要为 Agent 准备业务操作底层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26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没有现成的结构化业务模型供 Agent 操纵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t>模型即工具，API 即合作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663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→ MCP 协议 + 模型市场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126480"/>
            <a:ext cx="10728655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6217920"/>
            <a:ext cx="101800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TAM：中国离散制造数字化市场 5000 亿+     |     SAM：中小企业 + 集成商 500 亿     |     Target：首年 100 家付费客户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PMF 验证：真实项目交付 + 量化指标验证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10058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3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508760"/>
            <a:ext cx="25400" cy="7315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659255"/>
            <a:ext cx="2194560" cy="430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400" b="1"/>
              <a:t>已交付真实 MES 项目</a:t>
            </a:r>
            <a:br>
              <a:rPr sz="1400" b="1"/>
            </a:br>
            <a:r>
              <a:rPr sz="1400" b="1"/>
              <a:t>(精密五金行业，即将启动)</a:t>
            </a:r>
            <a:endParaRPr sz="1400" b="1"/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4572000" cy="10058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3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2 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697480"/>
            <a:ext cx="25400" cy="7315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847975"/>
            <a:ext cx="2194560" cy="430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400" b="1"/>
              <a:t>行业 Profile </a:t>
            </a:r>
            <a:endParaRPr sz="1400" b="1"/>
          </a:p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400" b="1"/>
              <a:t>从零到首次可生成</a:t>
            </a:r>
            <a:endParaRPr sz="1400" b="1"/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4572000" cy="10058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3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≥80%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3886200"/>
            <a:ext cx="25400" cy="7315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4144328"/>
            <a:ext cx="219456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400" b="1"/>
              <a:t>生成代码首次可运行率</a:t>
            </a:r>
            <a:endParaRPr sz="1400" b="1"/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4572000" cy="10058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3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&lt;30分钟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5074920"/>
            <a:ext cx="25400" cy="7315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5333048"/>
            <a:ext cx="219456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400" b="1"/>
              <a:t>DSL 修改到生成可部署包</a:t>
            </a:r>
            <a:endParaRPr sz="1400" b="1"/>
          </a:p>
        </p:txBody>
      </p:sp>
      <p:sp>
        <p:nvSpPr>
          <p:cNvPr id="20" name="TextBox 19"/>
          <p:cNvSpPr txBox="1"/>
          <p:nvPr/>
        </p:nvSpPr>
        <p:spPr>
          <a:xfrm>
            <a:off x="5669280" y="1805940"/>
            <a:ext cx="5790895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1800"/>
              <a:t>已完成的验证：</a:t>
            </a:r>
            <a:endParaRPr sz="1800"/>
          </a:p>
        </p:txBody>
      </p:sp>
      <p:sp>
        <p:nvSpPr>
          <p:cNvPr id="21" name="TextBox 20"/>
          <p:cNvSpPr txBox="1"/>
          <p:nvPr/>
        </p:nvSpPr>
        <p:spPr>
          <a:xfrm>
            <a:off x="5852160" y="2263140"/>
            <a:ext cx="5608015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微软雅黑"/>
                <a:ea typeface="微软雅黑"/>
              </a:defRPr>
            </a:pPr>
            <a:r>
              <a:rPr sz="1400"/>
              <a:t>├── 架构文档 v2.1 完成（2582行）</a:t>
            </a:r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5852160" y="2537460"/>
            <a:ext cx="5608015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微软雅黑"/>
                <a:ea typeface="微软雅黑"/>
              </a:defRPr>
            </a:pPr>
            <a:r>
              <a:rPr sz="1400"/>
              <a:t>├── 三重评审通过（初版 → 二次评审 → 评审整改）</a:t>
            </a:r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5852160" y="2811780"/>
            <a:ext cx="5608015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微软雅黑"/>
                <a:ea typeface="微软雅黑"/>
              </a:defRPr>
            </a:pPr>
            <a:r>
              <a:rPr sz="1400"/>
              <a:t>├── 通用模型基础 base/ 五大核心实体定义完成</a:t>
            </a:r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5852160" y="3086100"/>
            <a:ext cx="5608015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微软雅黑"/>
                <a:ea typeface="微软雅黑"/>
              </a:defRPr>
            </a:pPr>
            <a:r>
              <a:rPr sz="1400"/>
              <a:t>├── 精密五金 Profile DSL 设计完成</a:t>
            </a:r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5852160" y="3360420"/>
            <a:ext cx="5608015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微软雅黑"/>
                <a:ea typeface="微软雅黑"/>
              </a:defRPr>
            </a:pPr>
            <a:r>
              <a:rPr sz="1400"/>
              <a:t>├── 生成引擎架构设计完成（4 道质量门禁）</a:t>
            </a:r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5852160" y="3634740"/>
            <a:ext cx="5608015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微软雅黑"/>
                <a:ea typeface="微软雅黑"/>
              </a:defRPr>
            </a:pPr>
            <a:r>
              <a:rPr sz="1400"/>
              <a:t>├── FIA 竞品分析完成</a:t>
            </a:r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5669280" y="4526280"/>
            <a:ext cx="5790895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lang="en-US" sz="1800"/>
              <a:t>NEXT</a:t>
            </a:r>
            <a:r>
              <a:rPr sz="1800"/>
              <a:t>：</a:t>
            </a:r>
            <a:endParaRPr sz="1800"/>
          </a:p>
        </p:txBody>
      </p:sp>
      <p:sp>
        <p:nvSpPr>
          <p:cNvPr id="28" name="TextBox 27"/>
          <p:cNvSpPr txBox="1"/>
          <p:nvPr/>
        </p:nvSpPr>
        <p:spPr>
          <a:xfrm>
            <a:off x="5852160" y="4892040"/>
            <a:ext cx="5608015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rPr sz="1400"/>
              <a:t>├── Phase 0a：核心生成工厂 + 精密五金 Profile（</a:t>
            </a:r>
            <a:r>
              <a:rPr lang="en-US" sz="1400"/>
              <a:t>x</a:t>
            </a:r>
            <a:r>
              <a:rPr sz="1400"/>
              <a:t> 周）</a:t>
            </a:r>
            <a:endParaRPr sz="1400"/>
          </a:p>
        </p:txBody>
      </p:sp>
      <p:sp>
        <p:nvSpPr>
          <p:cNvPr id="29" name="TextBox 28"/>
          <p:cNvSpPr txBox="1"/>
          <p:nvPr/>
        </p:nvSpPr>
        <p:spPr>
          <a:xfrm>
            <a:off x="5852160" y="5166360"/>
            <a:ext cx="5608015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rPr sz="1400"/>
              <a:t>├── Phase 0b：SaaS 基础 + 更多行业 Profile（</a:t>
            </a:r>
            <a:r>
              <a:rPr lang="en-US" sz="1400"/>
              <a:t>x</a:t>
            </a:r>
            <a:r>
              <a:rPr sz="1400"/>
              <a:t> 周）</a:t>
            </a:r>
            <a:endParaRPr sz="1400"/>
          </a:p>
        </p:txBody>
      </p:sp>
      <p:sp>
        <p:nvSpPr>
          <p:cNvPr id="30" name="TextBox 29"/>
          <p:cNvSpPr txBox="1"/>
          <p:nvPr/>
        </p:nvSpPr>
        <p:spPr>
          <a:xfrm>
            <a:off x="5852160" y="5440680"/>
            <a:ext cx="5608015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rPr sz="1400"/>
              <a:t>├── Phase 1：SaaS 上线 + 首个真实项目交付（</a:t>
            </a:r>
            <a:r>
              <a:rPr lang="en-US" sz="1400"/>
              <a:t>x</a:t>
            </a:r>
            <a:r>
              <a:rPr sz="1400"/>
              <a:t> 周）</a:t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18 周 MVP 到市场，持续迭代扩张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38528" y="1572768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Phase 0a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(5-6 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560320" cy="33680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8070"/>
            <a:ext cx="2286000" cy="3073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核心生成工厂</a:t>
            </a:r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868680" y="2720340"/>
            <a:ext cx="228600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72105"/>
            <a:ext cx="2286635" cy="221551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DSL语法</a:t>
            </a:r>
            <a:endParaRPr sz="1600"/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通用模型</a:t>
            </a:r>
            <a:endParaRPr sz="1600"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lang="zh-CN" sz="1600">
                <a:sym typeface="+mn-ea"/>
              </a:rPr>
              <a:t>精密电子</a:t>
            </a:r>
            <a:endParaRPr lang="en-US" altLang="zh-CN" sz="1600"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精密</a:t>
            </a:r>
            <a:r>
              <a:rPr lang="zh-CN" sz="1600">
                <a:sym typeface="+mn-ea"/>
              </a:rPr>
              <a:t>结构件</a:t>
            </a:r>
            <a:endParaRPr lang="zh-CN" sz="1600"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生成模板</a:t>
            </a:r>
            <a:endParaRPr sz="1600"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质量门禁</a:t>
            </a:r>
            <a:endParaRPr lang="zh-CN" sz="1600">
              <a:sym typeface="+mn-ea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81728" y="1572768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Phase 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828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(6-7 周)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194560"/>
            <a:ext cx="2560320" cy="33680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2338070"/>
            <a:ext cx="2286000" cy="3073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SaaS 基础</a:t>
            </a:r>
            <a:endParaRPr sz="2000"/>
          </a:p>
        </p:txBody>
      </p:sp>
      <p:sp>
        <p:nvSpPr>
          <p:cNvPr id="21" name="Rectangle 20"/>
          <p:cNvSpPr/>
          <p:nvPr/>
        </p:nvSpPr>
        <p:spPr>
          <a:xfrm>
            <a:off x="3611880" y="2720340"/>
            <a:ext cx="228600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871788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+ 行业 Profile</a:t>
            </a:r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3657600" y="3146425"/>
            <a:ext cx="2194560" cy="221551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用户系统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模型管理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计费系统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电子MES Profile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供应链 Profile</a:t>
            </a:r>
            <a:endParaRPr sz="1600">
              <a:sym typeface="+mn-ea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24928" y="1572768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1887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Phase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828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(6-8 周)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94560"/>
            <a:ext cx="2560320" cy="33680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338070"/>
            <a:ext cx="2286000" cy="3073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SaaS 上线</a:t>
            </a:r>
            <a:endParaRPr sz="2000"/>
          </a:p>
        </p:txBody>
      </p:sp>
      <p:sp>
        <p:nvSpPr>
          <p:cNvPr id="33" name="Rectangle 32"/>
          <p:cNvSpPr/>
          <p:nvPr/>
        </p:nvSpPr>
        <p:spPr>
          <a:xfrm>
            <a:off x="6355080" y="2720340"/>
            <a:ext cx="228600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871788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+ 首项目交付</a:t>
            </a:r>
            <a:endParaRPr sz="1600"/>
          </a:p>
        </p:txBody>
      </p:sp>
      <p:sp>
        <p:nvSpPr>
          <p:cNvPr id="35" name="TextBox 34"/>
          <p:cNvSpPr txBox="1"/>
          <p:nvPr/>
        </p:nvSpPr>
        <p:spPr>
          <a:xfrm>
            <a:off x="6400800" y="3146425"/>
            <a:ext cx="2194560" cy="221615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Web IDE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模型市场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完整计费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真实MES交付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运营后台</a:t>
            </a:r>
            <a:endParaRPr sz="1600">
              <a:sym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168128" y="1572768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11887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Phase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1828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(持续)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2194560"/>
            <a:ext cx="2560320" cy="33680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2338070"/>
            <a:ext cx="2286000" cy="3073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rPr sz="2000"/>
              <a:t>Agent 深度集成</a:t>
            </a:r>
            <a:endParaRPr sz="2000"/>
          </a:p>
        </p:txBody>
      </p:sp>
      <p:sp>
        <p:nvSpPr>
          <p:cNvPr id="45" name="Rectangle 44"/>
          <p:cNvSpPr/>
          <p:nvPr/>
        </p:nvSpPr>
        <p:spPr>
          <a:xfrm>
            <a:off x="9098280" y="2720340"/>
            <a:ext cx="228600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2871788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/>
              <a:t>NLP→DSL 操作</a:t>
            </a:r>
            <a:endParaRPr sz="1600"/>
          </a:p>
        </p:txBody>
      </p:sp>
      <p:sp>
        <p:nvSpPr>
          <p:cNvPr id="47" name="TextBox 46"/>
          <p:cNvSpPr txBox="1"/>
          <p:nvPr/>
        </p:nvSpPr>
        <p:spPr>
          <a:xfrm>
            <a:off x="9144000" y="3146425"/>
            <a:ext cx="2194560" cy="221551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性能优化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安全审计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社区运营</a:t>
            </a:r>
            <a:endParaRPr sz="1600"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  <a:defRPr sz="1000" b="0">
                <a:solidFill>
                  <a:srgbClr val="333842"/>
                </a:solidFill>
                <a:latin typeface="微软雅黑"/>
                <a:ea typeface="微软雅黑"/>
              </a:defRPr>
            </a:pPr>
            <a:r>
              <a:rPr sz="1600">
                <a:sym typeface="+mn-ea"/>
              </a:rPr>
              <a:t>移动端增强</a:t>
            </a:r>
            <a:endParaRPr sz="1600">
              <a:sym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31520" y="5772150"/>
            <a:ext cx="10728655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772150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Phase 0a 完成 → 首个 Profile 可生成 → 启动种子客户验证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6092190"/>
            <a:ext cx="10728655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6092190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Phase 1 完成 → SaaS 上线 + 首个交付收入 → 启动 A 轮融资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6412230"/>
            <a:ext cx="10728655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6412230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微软雅黑"/>
                <a:ea typeface="微软雅黑"/>
              </a:defRPr>
            </a:pPr>
            <a:r>
              <a:t>Phase 2 → 社区效应规模增长 → 模型市场飞轮启动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1455"/>
            <a:ext cx="10728655" cy="40005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精准规划，小团队高效运转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731520" y="1805940"/>
            <a:ext cx="10454640" cy="3200400"/>
            <a:chOff x="1152" y="2160"/>
            <a:chExt cx="16464" cy="5040"/>
          </a:xfrm>
        </p:grpSpPr>
        <p:sp>
          <p:nvSpPr>
            <p:cNvPr id="4" name="Rounded Rectangle 3"/>
            <p:cNvSpPr/>
            <p:nvPr/>
          </p:nvSpPr>
          <p:spPr>
            <a:xfrm>
              <a:off x="1152" y="2160"/>
              <a:ext cx="6480" cy="5040"/>
            </a:xfrm>
            <a:prstGeom prst="round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52" y="3113"/>
              <a:ext cx="6480" cy="57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1400" b="0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融资金额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52" y="3833"/>
              <a:ext cx="6480" cy="115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36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¥XXX 万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592" y="5129"/>
              <a:ext cx="3600" cy="40"/>
            </a:xfrm>
            <a:prstGeom prst="rect">
              <a:avLst/>
            </a:prstGeom>
            <a:solidFill>
              <a:srgbClr val="0071E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52" y="5417"/>
              <a:ext cx="6480" cy="57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1200" b="0">
                  <a:solidFill>
                    <a:srgbClr val="CCD5EE"/>
                  </a:solidFill>
                  <a:latin typeface="微软雅黑"/>
                  <a:ea typeface="微软雅黑"/>
                </a:defRPr>
              </a:pPr>
              <a:r>
                <a:t>出让股份：XX%     |     投前估值：¥XXXX 万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64" y="2711"/>
              <a:ext cx="5472" cy="43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400" b="1">
                  <a:solidFill>
                    <a:srgbClr val="1E2761"/>
                  </a:solidFill>
                  <a:latin typeface="微软雅黑"/>
                  <a:ea typeface="微软雅黑"/>
                </a:defRPr>
              </a:pPr>
              <a:r>
                <a:rPr sz="1800"/>
                <a:t>资金使用规划</a:t>
              </a:r>
              <a:endParaRPr sz="18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08" y="3382"/>
              <a:ext cx="5328" cy="67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├── 6 个月内：Phase 0a-1 完成 → SaaS 上线 + 首个付费客户</a:t>
              </a:r>
              <a:endParaRPr sz="14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08" y="4390"/>
              <a:ext cx="5328" cy="67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├── 12 个月内：50 个活跃付费客户 + 模型市场 50+ 社区模型</a:t>
              </a:r>
              <a:endParaRPr sz="14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208" y="5398"/>
              <a:ext cx="5328" cy="67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1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rPr sz="1400"/>
                <a:t>├── 18 个月内：月经常性收入(MRR) 突破 ¥XX 万，盈亏平衡</a:t>
              </a:r>
              <a:endParaRPr sz="14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968" y="2711"/>
              <a:ext cx="3648" cy="43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400" b="1">
                  <a:solidFill>
                    <a:srgbClr val="1E2761"/>
                  </a:solidFill>
                  <a:latin typeface="微软雅黑"/>
                  <a:ea typeface="微软雅黑"/>
                </a:defRPr>
              </a:pPr>
              <a:r>
                <a:rPr sz="1800"/>
                <a:t>资金用途分布</a:t>
              </a:r>
              <a:endParaRPr sz="180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3968" y="3382"/>
              <a:ext cx="3648" cy="64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184" y="3411"/>
              <a:ext cx="3216" cy="2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defRPr sz="1200" b="1">
                  <a:solidFill>
                    <a:srgbClr val="1E2761"/>
                  </a:solidFill>
                  <a:latin typeface="微软雅黑"/>
                  <a:ea typeface="微软雅黑"/>
                </a:defRPr>
              </a:pPr>
              <a:r>
                <a:t>产品研发 60%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84" y="3699"/>
              <a:ext cx="3216" cy="2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defRPr sz="900" b="0">
                  <a:solidFill>
                    <a:srgbClr val="6C7B94"/>
                  </a:solidFill>
                  <a:latin typeface="微软雅黑"/>
                  <a:ea typeface="微软雅黑"/>
                </a:defRPr>
              </a:pPr>
              <a:r>
                <a:t>引擎 / SaaS 开发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3968" y="4145"/>
              <a:ext cx="3648" cy="64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184" y="4174"/>
              <a:ext cx="3216" cy="2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defRPr sz="1200" b="1">
                  <a:solidFill>
                    <a:srgbClr val="1E2761"/>
                  </a:solidFill>
                  <a:latin typeface="微软雅黑"/>
                  <a:ea typeface="微软雅黑"/>
                </a:defRPr>
              </a:pPr>
              <a:r>
                <a:t>市场推广 20%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184" y="4462"/>
              <a:ext cx="3216" cy="2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defRPr sz="900" b="0">
                  <a:solidFill>
                    <a:srgbClr val="6C7B94"/>
                  </a:solidFill>
                  <a:latin typeface="微软雅黑"/>
                  <a:ea typeface="微软雅黑"/>
                </a:defRPr>
              </a:pPr>
              <a:r>
                <a:t>行业展会 / 渠道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3968" y="4908"/>
              <a:ext cx="3648" cy="64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184" y="4937"/>
              <a:ext cx="3216" cy="2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defRPr sz="1200" b="1">
                  <a:solidFill>
                    <a:srgbClr val="1E2761"/>
                  </a:solidFill>
                  <a:latin typeface="微软雅黑"/>
                  <a:ea typeface="微软雅黑"/>
                </a:defRPr>
              </a:pPr>
              <a:r>
                <a:t>运营 15%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184" y="5225"/>
              <a:ext cx="3216" cy="2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defRPr sz="900" b="0">
                  <a:solidFill>
                    <a:srgbClr val="6C7B94"/>
                  </a:solidFill>
                  <a:latin typeface="微软雅黑"/>
                  <a:ea typeface="微软雅黑"/>
                </a:defRPr>
              </a:pPr>
              <a:r>
                <a:t>团队 / 服务器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3968" y="5672"/>
              <a:ext cx="3648" cy="648"/>
            </a:xfrm>
            <a:prstGeom prst="roundRect">
              <a:avLst/>
            </a:prstGeom>
            <a:solidFill>
              <a:srgbClr val="F5F7FA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4184" y="5700"/>
              <a:ext cx="3216" cy="2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defRPr sz="1200" b="1">
                  <a:solidFill>
                    <a:srgbClr val="1E2761"/>
                  </a:solidFill>
                  <a:latin typeface="微软雅黑"/>
                  <a:ea typeface="微软雅黑"/>
                </a:defRPr>
              </a:pPr>
              <a:r>
                <a:t>预留 5%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184" y="5988"/>
              <a:ext cx="3216" cy="2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defRPr sz="900" b="0">
                  <a:solidFill>
                    <a:srgbClr val="6C7B94"/>
                  </a:solidFill>
                  <a:latin typeface="微软雅黑"/>
                  <a:ea typeface="微软雅黑"/>
                </a:defRPr>
              </a:pPr>
              <a:r>
                <a:t>法律 / 审计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31520" y="5705983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资金使用效率：小团队模式（核心 3-5 人 + AI Agent 辅助），人力成本可控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模型即资产，交付即分叉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小团队 + AI Agent     30 分钟生成可部署应用     成本降低 80%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>
                <a:solidFill>
                  <a:srgbClr val="6C7B94"/>
                </a:solidFill>
                <a:latin typeface="微软雅黑"/>
                <a:ea typeface="微软雅黑"/>
              </a:defRPr>
            </a:pPr>
            <a:r>
              <a:t>[联系方式占位：电话 / 邮箱 / 微信]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0071E3"/>
                </a:solidFill>
                <a:latin typeface="微软雅黑"/>
                <a:ea typeface="微软雅黑"/>
              </a:defRPr>
            </a:pPr>
            <a:r>
              <a:t>预约产品演示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微软雅黑"/>
                <a:ea typeface="微软雅黑"/>
              </a:defRPr>
            </a:pPr>
            <a:r>
              <a:t>SaaS 平台 &amp; 生成应用技术栈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640080" y="1737995"/>
            <a:ext cx="10972800" cy="3912870"/>
            <a:chOff x="1008" y="2737"/>
            <a:chExt cx="17280" cy="6162"/>
          </a:xfrm>
        </p:grpSpPr>
        <p:sp>
          <p:nvSpPr>
            <p:cNvPr id="4" name="TextBox 3"/>
            <p:cNvSpPr txBox="1"/>
            <p:nvPr/>
          </p:nvSpPr>
          <p:spPr>
            <a:xfrm>
              <a:off x="1008" y="2737"/>
              <a:ext cx="7920" cy="5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  <a:defRPr sz="1800" b="1">
                  <a:solidFill>
                    <a:srgbClr val="1E2761"/>
                  </a:solidFill>
                  <a:latin typeface="微软雅黑"/>
                  <a:ea typeface="微软雅黑"/>
                </a:defRPr>
              </a:pPr>
              <a:r>
                <a:t>SaaS 平台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8" y="3457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52" y="3543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后端框架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176" y="3457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" y="3543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FastAPI 0.110+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08" y="4062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52" y="4148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ORM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76" y="4062"/>
              <a:ext cx="5040" cy="60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20" y="4148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SQLAlchemy 2.0+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08" y="4667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52" y="4753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Web UI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176" y="4667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20" y="4753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Vue 3 + TypeScript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08" y="5271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52" y="5358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UI 组件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76" y="5271"/>
              <a:ext cx="5040" cy="60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320" y="5358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Element Plus 2.x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08" y="5876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52" y="5963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数据库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176" y="5876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320" y="5963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PostgreSQL 16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08" y="6481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52" y="6567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缓存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176" y="6481"/>
              <a:ext cx="5040" cy="60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20" y="6567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Redis 7.x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08" y="7086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52" y="7172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对象存储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176" y="7086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320" y="7172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MinIO / S3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08" y="7691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52" y="7777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容器化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176" y="7691"/>
              <a:ext cx="5040" cy="60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20" y="7777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Docker + Docker Compose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08" y="8295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152" y="8382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Agent 协议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176" y="8295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320" y="8382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MCP (Model Context Protocol)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80" y="2737"/>
              <a:ext cx="7920" cy="5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  <a:defRPr sz="1800" b="1">
                  <a:solidFill>
                    <a:srgbClr val="1E2761"/>
                  </a:solidFill>
                  <a:latin typeface="微软雅黑"/>
                  <a:ea typeface="微软雅黑"/>
                </a:defRPr>
              </a:pPr>
              <a:r>
                <a:t>生成应用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80" y="3457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224" y="3543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Web 框架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3248" y="3457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3392" y="3543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FastAPI 0.110+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080" y="4062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224" y="4148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ORM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3248" y="4062"/>
              <a:ext cx="5040" cy="60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392" y="4148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SQLAlchemy 2.0+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0080" y="4667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224" y="4753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数据验证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3248" y="4667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3392" y="4753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Pydantic 2.x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080" y="5271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224" y="5358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数据库迁移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248" y="5271"/>
              <a:ext cx="5040" cy="60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3392" y="5358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Alembic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0080" y="5876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224" y="5963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前端框架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3248" y="5876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3392" y="5963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Vue 3 + TypeScript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0080" y="6481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24" y="6567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UI 组件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3248" y="6481"/>
              <a:ext cx="5040" cy="60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3392" y="6567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Element Plus 2.x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0080" y="7086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224" y="7172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移动端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3248" y="7086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3392" y="7172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uni-app (Vue 3)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0080" y="7691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224" y="7777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移动端 UI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3248" y="7691"/>
              <a:ext cx="5040" cy="60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392" y="7777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uView Plus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0080" y="8295"/>
              <a:ext cx="3168" cy="605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0224" y="8382"/>
              <a:ext cx="2880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1">
                  <a:solidFill>
                    <a:srgbClr val="FFFFFF"/>
                  </a:solidFill>
                  <a:latin typeface="微软雅黑"/>
                  <a:ea typeface="微软雅黑"/>
                </a:defRPr>
              </a:pPr>
              <a:r>
                <a:t>数据库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248" y="8295"/>
              <a:ext cx="5040" cy="6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E8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3392" y="8382"/>
              <a:ext cx="4752" cy="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400"/>
                </a:spcAft>
                <a:defRPr sz="1200" b="0">
                  <a:solidFill>
                    <a:srgbClr val="333842"/>
                  </a:solidFill>
                  <a:latin typeface="微软雅黑"/>
                  <a:ea typeface="微软雅黑"/>
                </a:defRPr>
              </a:pPr>
              <a:r>
                <a:t>PostgreSQL + TimescaleDB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5460</Words>
  <Application>WPS 演示</Application>
  <PresentationFormat>On-screen Show (4:3)</PresentationFormat>
  <Paragraphs>727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Calibri</vt:lpstr>
      <vt:lpstr>Helvetica Neue</vt:lpstr>
      <vt:lpstr>微软雅黑</vt:lpstr>
      <vt:lpstr>汉仪书宋二KW</vt:lpstr>
      <vt:lpstr>宋体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智造执行内参</cp:lastModifiedBy>
  <cp:revision>70</cp:revision>
  <dcterms:created xsi:type="dcterms:W3CDTF">2026-07-11T16:57:47Z</dcterms:created>
  <dcterms:modified xsi:type="dcterms:W3CDTF">2026-07-11T16:57:47Z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988B9595BE3F058B9A63526A3551A971_43</vt:lpwstr>
  </property>
  <property fmtid="{D5CDD505-2E9C-101B-9397-08002B2CF9AE}" pid="3" name="KSOProductBuildVer">
    <vt:lpwstr>2052-12.1.26026.26026</vt:lpwstr>
  </property>
</Properties>
</file>